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d0b78640754f4e" /><Relationship Type="http://schemas.openxmlformats.org/officeDocument/2006/relationships/extended-properties" Target="/docProps/app.xml" Id="R26cd2efeab824c07" /><Relationship Type="http://schemas.openxmlformats.org/officeDocument/2006/relationships/officeDocument" Target="/ppt/presentation.xml" Id="R4ab6c229a92943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a1a5b823ba43e7"/>
  </p:sldMasterIdLst>
  <p:notesMasterIdLst>
    <p:notesMasterId xmlns:r="http://schemas.openxmlformats.org/officeDocument/2006/relationships" r:id="R7ed2c137b4d74999"/>
  </p:notesMasterIdLst>
  <p:sldIdLst>
    <p:sldId xmlns:r="http://schemas.openxmlformats.org/officeDocument/2006/relationships" id="256" r:id="R033f5718c44d4a35"/>
    <p:sldId xmlns:r="http://schemas.openxmlformats.org/officeDocument/2006/relationships" id="257" r:id="R27a5dd200a5e4dc8"/>
    <p:sldId xmlns:r="http://schemas.openxmlformats.org/officeDocument/2006/relationships" id="258" r:id="Ra0b8b775463f4b24"/>
    <p:sldId xmlns:r="http://schemas.openxmlformats.org/officeDocument/2006/relationships" id="259" r:id="R6b228ba342d047b4"/>
    <p:sldId xmlns:r="http://schemas.openxmlformats.org/officeDocument/2006/relationships" id="260" r:id="R857c49cab7ff40ec"/>
    <p:sldId xmlns:r="http://schemas.openxmlformats.org/officeDocument/2006/relationships" id="261" r:id="Re705495ae1cb4f82"/>
    <p:sldId xmlns:r="http://schemas.openxmlformats.org/officeDocument/2006/relationships" id="262" r:id="Re66efd86dcbe4066"/>
    <p:sldId xmlns:r="http://schemas.openxmlformats.org/officeDocument/2006/relationships" id="263" r:id="Ra0985072f3684d28"/>
    <p:sldId xmlns:r="http://schemas.openxmlformats.org/officeDocument/2006/relationships" id="264" r:id="R31cc9e44e3ad44e1"/>
    <p:sldId xmlns:r="http://schemas.openxmlformats.org/officeDocument/2006/relationships" id="265" r:id="R152da01dab3440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d0e9ede79b4c29" /><Relationship Type="http://schemas.openxmlformats.org/officeDocument/2006/relationships/slideMaster" Target="/ppt/slideMasters/slideMaster1.xml" Id="R54a1a5b823ba43e7" /><Relationship Type="http://schemas.openxmlformats.org/officeDocument/2006/relationships/notesMaster" Target="/ppt/notesMasters/notesMaster1.xml" Id="R7ed2c137b4d74999" /><Relationship Type="http://schemas.openxmlformats.org/officeDocument/2006/relationships/presProps" Target="/ppt/presProps.xml" Id="Rd9ce2bd1c40d44f3" /><Relationship Type="http://schemas.openxmlformats.org/officeDocument/2006/relationships/tableStyles" Target="/ppt/tableStyles.xml" Id="Rb7a453c767384efc" /><Relationship Type="http://schemas.openxmlformats.org/officeDocument/2006/relationships/slide" Target="/ppt/slides/slide1.xml" Id="R033f5718c44d4a35" /><Relationship Type="http://schemas.openxmlformats.org/officeDocument/2006/relationships/slide" Target="/ppt/slides/slide2.xml" Id="R27a5dd200a5e4dc8" /><Relationship Type="http://schemas.openxmlformats.org/officeDocument/2006/relationships/slide" Target="/ppt/slides/slide3.xml" Id="Ra0b8b775463f4b24" /><Relationship Type="http://schemas.openxmlformats.org/officeDocument/2006/relationships/slide" Target="/ppt/slides/slide4.xml" Id="R6b228ba342d047b4" /><Relationship Type="http://schemas.openxmlformats.org/officeDocument/2006/relationships/slide" Target="/ppt/slides/slide5.xml" Id="R857c49cab7ff40ec" /><Relationship Type="http://schemas.openxmlformats.org/officeDocument/2006/relationships/slide" Target="/ppt/slides/slide6.xml" Id="Re705495ae1cb4f82" /><Relationship Type="http://schemas.openxmlformats.org/officeDocument/2006/relationships/slide" Target="/ppt/slides/slide7.xml" Id="Re66efd86dcbe4066" /><Relationship Type="http://schemas.openxmlformats.org/officeDocument/2006/relationships/slide" Target="/ppt/slides/slide8.xml" Id="Ra0985072f3684d28" /><Relationship Type="http://schemas.openxmlformats.org/officeDocument/2006/relationships/slide" Target="/ppt/slides/slide9.xml" Id="R31cc9e44e3ad44e1" /><Relationship Type="http://schemas.openxmlformats.org/officeDocument/2006/relationships/slide" Target="/ppt/slides/slide10.xml" Id="R152da01dab3440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6b7927aba547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5421da5d1b4283" /><Relationship Type="http://schemas.openxmlformats.org/officeDocument/2006/relationships/notesMaster" Target="/ppt/notesMasters/notesMaster1.xml" Id="R7d9988701fa643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05cff3c2984d3a" /><Relationship Type="http://schemas.openxmlformats.org/officeDocument/2006/relationships/notesMaster" Target="/ppt/notesMasters/notesMaster1.xml" Id="Re2eabd623dac49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ce5f1bfe7e47a7" /><Relationship Type="http://schemas.openxmlformats.org/officeDocument/2006/relationships/notesMaster" Target="/ppt/notesMasters/notesMaster1.xml" Id="R3a73e8592c1249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5fb5dc7bd949a8" /><Relationship Type="http://schemas.openxmlformats.org/officeDocument/2006/relationships/notesMaster" Target="/ppt/notesMasters/notesMaster1.xml" Id="Rfda1d78301a34e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684f18d7cd4239" /><Relationship Type="http://schemas.openxmlformats.org/officeDocument/2006/relationships/notesMaster" Target="/ppt/notesMasters/notesMaster1.xml" Id="Rcbc237d263454a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df705be1fc4a29" /><Relationship Type="http://schemas.openxmlformats.org/officeDocument/2006/relationships/notesMaster" Target="/ppt/notesMasters/notesMaster1.xml" Id="Rbf37a521d17040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8c62719fd74855" /><Relationship Type="http://schemas.openxmlformats.org/officeDocument/2006/relationships/notesMaster" Target="/ppt/notesMasters/notesMaster1.xml" Id="R49f9e7eba00d4b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9293c1cde3483b" /><Relationship Type="http://schemas.openxmlformats.org/officeDocument/2006/relationships/notesMaster" Target="/ppt/notesMasters/notesMaster1.xml" Id="Rff6acefe68bc45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0c894c9dae44fe" /><Relationship Type="http://schemas.openxmlformats.org/officeDocument/2006/relationships/notesMaster" Target="/ppt/notesMasters/notesMaster1.xml" Id="Rd8943caafca048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5aeea5dd6748b0" /><Relationship Type="http://schemas.openxmlformats.org/officeDocument/2006/relationships/notesMaster" Target="/ppt/notesMasters/notesMaster1.xml" Id="R509ea589d8e545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7a17df152a4d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b76954c8ac4638" /><Relationship Type="http://schemas.openxmlformats.org/officeDocument/2006/relationships/slideLayout" Target="/ppt/slideLayouts/slideLayout1.xml" Id="R5cffe2d4f70044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ffe2d4f70044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6c10b21be4290" /><Relationship Type="http://schemas.openxmlformats.org/officeDocument/2006/relationships/notesSlide" Target="/ppt/notesSlides/notesSlide1.xml" Id="R053ef506fdb84b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e3ce1c8344166" /><Relationship Type="http://schemas.openxmlformats.org/officeDocument/2006/relationships/notesSlide" Target="/ppt/notesSlides/notesSlide2.xml" Id="R9863dcb4d8e541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1bda4a1ab4ff8" /><Relationship Type="http://schemas.openxmlformats.org/officeDocument/2006/relationships/notesSlide" Target="/ppt/notesSlides/notesSlide3.xml" Id="R20dd3571b5d64d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639e114c84acd" /><Relationship Type="http://schemas.openxmlformats.org/officeDocument/2006/relationships/notesSlide" Target="/ppt/notesSlides/notesSlide4.xml" Id="Rcccd0120a16246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36367ef1a43fb" /><Relationship Type="http://schemas.openxmlformats.org/officeDocument/2006/relationships/notesSlide" Target="/ppt/notesSlides/notesSlide5.xml" Id="R721aaf8d53c34b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c56692b1f46d5" /><Relationship Type="http://schemas.openxmlformats.org/officeDocument/2006/relationships/notesSlide" Target="/ppt/notesSlides/notesSlide6.xml" Id="R1d3ed003b25642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2f23dc85b44a4" /><Relationship Type="http://schemas.openxmlformats.org/officeDocument/2006/relationships/notesSlide" Target="/ppt/notesSlides/notesSlide7.xml" Id="R6dc694bcf39b4e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ca892188c4083" /><Relationship Type="http://schemas.openxmlformats.org/officeDocument/2006/relationships/notesSlide" Target="/ppt/notesSlides/notesSlide8.xml" Id="R112ef04b6d0e45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303476f054e2a" /><Relationship Type="http://schemas.openxmlformats.org/officeDocument/2006/relationships/notesSlide" Target="/ppt/notesSlides/notesSlide9.xml" Id="R47a333594b124d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7eed5cd234874" /><Relationship Type="http://schemas.openxmlformats.org/officeDocument/2006/relationships/notesSlide" Target="/ppt/notesSlides/notesSlide10.xml" Id="R13d32be8412b45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F5A217F2-3A2D-458F-B853-25EC8AF8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43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C7"/>
          </a:solidFill>
          <a:ln xmlns:a="http://schemas.openxmlformats.org/drawingml/2006/main" w="9525">
            <a:solidFill>
              <a:srgbClr val="12A7C7"/>
            </a:solidFill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2069CA9-B188-46ED-B956-62E93213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3D8F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3D8F0"/>
                </a:solidFill>
                <a:latin typeface="Arial"/>
                <a:ea typeface="Arial"/>
                <a:cs typeface="Arial"/>
              </a:rPr>
              <a:t>TELECOM COMPLAINT INTELLIGENCE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AA77A34-FE47-443A-9971-C635668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Automated Resolution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Human Escalation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296F37A-4BD5-4B89-A34C-6D416828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C6D4E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C6D4E3"/>
                </a:solidFill>
                <a:latin typeface="Arial"/>
                <a:ea typeface="Arial"/>
                <a:cs typeface="Arial"/>
              </a:rPr>
              <a:t>Priority-aware request handling • Resolver Base • Hierarchical RAG • Technician email workflow</a:t>
            </a:r>
          </a:p>
        </p:txBody>
      </p:sp>
      <p:sp>
        <p:nvSpPr>
          <p:cNvPr id="5" name="cover-flow">
            <a:extLst xmlns:a="http://schemas.openxmlformats.org/drawingml/2006/main">
              <a:ext uri="{FF2B5EF4-FFF2-40B4-BE49-F238E27FC236}">
                <a16:creationId xmlns:a16="http://schemas.microsoft.com/office/drawing/2014/main" id="{6417D819-920D-45B1-A852-5B306B88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10191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4243A"/>
          </a:solidFill>
          <a:ln xmlns:a="http://schemas.openxmlformats.org/drawingml/2006/main" w="9525">
            <a:solidFill>
              <a:srgbClr val="2E4968"/>
            </a:solidFill>
            <a:prstDash val="solid"/>
          </a:ln>
        </p:spPr>
      </p:sp>
      <p:sp>
        <p:nvSpPr>
          <p:cNvPr id="6" name="cover-flow-text">
            <a:extLst xmlns:a="http://schemas.openxmlformats.org/drawingml/2006/main">
              <a:ext uri="{FF2B5EF4-FFF2-40B4-BE49-F238E27FC236}">
                <a16:creationId xmlns:a16="http://schemas.microsoft.com/office/drawing/2014/main" id="{28DA3581-11AD-4C10-9DFA-3E6690C0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530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67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Complaint  →  Priority Queue  →  Resolver Base / Knowledge Base  →  LLM  →  Feedback or Escalation</a:t>
            </a:r>
          </a:p>
        </p:txBody>
      </p:sp>
      <p:sp>
        <p:nvSpPr>
          <p:cNvPr id="7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6E0DC92B-7566-4B6F-9D05-55AF0959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912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8FA7C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8FA7C0"/>
                </a:solidFill>
                <a:latin typeface="Arial"/>
                <a:ea typeface="Arial"/>
                <a:cs typeface="Arial"/>
              </a:rPr>
              <a:t>Project workflow presentation</a:t>
            </a:r>
          </a:p>
        </p:txBody>
      </p:sp>
    </p:spTree>
    <p:extLst>
      <p:ext uri="{BB962C8B-B14F-4D97-AF65-F5344CB8AC3E}">
        <p14:creationId xmlns:p14="http://schemas.microsoft.com/office/powerpoint/2010/main" val="8170673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2">
            <a:extLst xmlns:a="http://schemas.openxmlformats.org/drawingml/2006/main">
              <a:ext uri="{FF2B5EF4-FFF2-40B4-BE49-F238E27FC236}">
                <a16:creationId xmlns:a16="http://schemas.microsoft.com/office/drawing/2014/main" id="{BCBF60B1-87E4-43B3-86D5-6DD2B247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01 / SYSTEM PURPOSE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1453B610-3AD9-4B12-9702-2C21CC91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387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system separates routine resolution from human exceptions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4C444841-04DA-4BA0-B8D1-F442FCC9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199A0AF5-2F51-4305-8604-388A4963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261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purpose">
            <a:extLst xmlns:a="http://schemas.openxmlformats.org/drawingml/2006/main">
              <a:ext uri="{FF2B5EF4-FFF2-40B4-BE49-F238E27FC236}">
                <a16:creationId xmlns:a16="http://schemas.microsoft.com/office/drawing/2014/main" id="{F1607910-5101-4370-81F5-47BADB57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173"/>
                </a:solidFill>
                <a:latin typeface="Arial"/>
                <a:ea typeface="Arial"/>
                <a:cs typeface="Arial"/>
              </a:rPr>
              <a:t>The platform is designed to resolve common telecom complaints quickly while giving technicians a clear, auditable path for cases that need human attention.</a:t>
            </a:r>
          </a:p>
        </p:txBody>
      </p:sp>
      <p:sp>
        <p:nvSpPr>
          <p:cNvPr id="6" name="routine">
            <a:extLst xmlns:a="http://schemas.openxmlformats.org/drawingml/2006/main">
              <a:ext uri="{FF2B5EF4-FFF2-40B4-BE49-F238E27FC236}">
                <a16:creationId xmlns:a16="http://schemas.microsoft.com/office/drawing/2014/main" id="{A8343946-D3AC-4C47-A95C-8F497B18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4953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9E5F3"/>
            </a:solidFill>
            <a:prstDash val="solid"/>
          </a:ln>
        </p:spPr>
      </p:sp>
      <p:sp>
        <p:nvSpPr>
          <p:cNvPr id="7" name="routine-head">
            <a:extLst xmlns:a="http://schemas.openxmlformats.org/drawingml/2006/main">
              <a:ext uri="{FF2B5EF4-FFF2-40B4-BE49-F238E27FC236}">
                <a16:creationId xmlns:a16="http://schemas.microsoft.com/office/drawing/2014/main" id="{225EDCCC-446C-4913-9337-E4D57E58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Routine path</a:t>
            </a:r>
          </a:p>
        </p:txBody>
      </p:sp>
      <p:sp>
        <p:nvSpPr>
          <p:cNvPr id="8" name="routine-body">
            <a:extLst xmlns:a="http://schemas.openxmlformats.org/drawingml/2006/main">
              <a:ext uri="{FF2B5EF4-FFF2-40B4-BE49-F238E27FC236}">
                <a16:creationId xmlns:a16="http://schemas.microsoft.com/office/drawing/2014/main" id="{8C7F1E4E-EE38-4FF8-A3CA-6486D3B6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Classify urgency</a:t>
            </a:r>
          </a:p>
          <a:p xmlns:a="http://schemas.openxmlformats.org/drawingml/2006/main"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Retrieve approved guidance</a:t>
            </a:r>
          </a:p>
          <a:p xmlns:a="http://schemas.openxmlformats.org/drawingml/2006/main"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Generate a structured response</a:t>
            </a:r>
          </a:p>
          <a:p xmlns:a="http://schemas.openxmlformats.org/drawingml/2006/main"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Ask for Yes / No feedback</a:t>
            </a:r>
          </a:p>
        </p:txBody>
      </p:sp>
      <p:sp>
        <p:nvSpPr>
          <p:cNvPr id="9" name="exception">
            <a:extLst xmlns:a="http://schemas.openxmlformats.org/drawingml/2006/main">
              <a:ext uri="{FF2B5EF4-FFF2-40B4-BE49-F238E27FC236}">
                <a16:creationId xmlns:a16="http://schemas.microsoft.com/office/drawing/2014/main" id="{863ED292-C174-460C-9CC0-D68ECC1D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52578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F3D18B"/>
            </a:solidFill>
            <a:prstDash val="solid"/>
          </a:ln>
        </p:spPr>
      </p:sp>
      <p:sp>
        <p:nvSpPr>
          <p:cNvPr id="10" name="exception-head">
            <a:extLst xmlns:a="http://schemas.openxmlformats.org/drawingml/2006/main">
              <a:ext uri="{FF2B5EF4-FFF2-40B4-BE49-F238E27FC236}">
                <a16:creationId xmlns:a16="http://schemas.microsoft.com/office/drawing/2014/main" id="{ABEF99C6-049C-44C7-A804-7EDE1D20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670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889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88900"/>
                </a:solidFill>
                <a:latin typeface="Arial"/>
                <a:ea typeface="Arial"/>
                <a:cs typeface="Arial"/>
              </a:rPr>
              <a:t>Human exception path</a:t>
            </a:r>
          </a:p>
        </p:txBody>
      </p:sp>
      <p:sp>
        <p:nvSpPr>
          <p:cNvPr id="11" name="exception-body">
            <a:extLst xmlns:a="http://schemas.openxmlformats.org/drawingml/2006/main">
              <a:ext uri="{FF2B5EF4-FFF2-40B4-BE49-F238E27FC236}">
                <a16:creationId xmlns:a16="http://schemas.microsoft.com/office/drawing/2014/main" id="{7A9807E7-3DEF-4B8E-8D8E-A696981E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0450"/>
            <a:ext cx="438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Escalate when policy requires it</a:t>
            </a:r>
          </a:p>
          <a:p xmlns:a="http://schemas.openxmlformats.org/drawingml/2006/main"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Capture complaint and escalation reason</a:t>
            </a:r>
          </a:p>
          <a:p xmlns:a="http://schemas.openxmlformats.org/drawingml/2006/main"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Technician writes a support message</a:t>
            </a:r>
          </a:p>
          <a:p xmlns:a="http://schemas.openxmlformats.org/drawingml/2006/main"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Send the customer an email update</a:t>
            </a:r>
          </a:p>
        </p:txBody>
      </p:sp>
    </p:spTree>
    <p:extLst>
      <p:ext uri="{BB962C8B-B14F-4D97-AF65-F5344CB8AC3E}">
        <p14:creationId xmlns:p14="http://schemas.microsoft.com/office/powerpoint/2010/main" val="3496872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-3">
            <a:extLst xmlns:a="http://schemas.openxmlformats.org/drawingml/2006/main">
              <a:ext uri="{FF2B5EF4-FFF2-40B4-BE49-F238E27FC236}">
                <a16:creationId xmlns:a16="http://schemas.microsoft.com/office/drawing/2014/main" id="{E687BCE0-0DB5-43B0-8CD4-4920F8C8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02 /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4B33402B-FB5F-4129-9BFE-FFFC55F3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95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One request path connects the customer, models, and technicians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6678383B-B3AF-4884-8463-B3AC3B89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3E8A9CE1-889C-47D8-9FC2-EAFCE893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261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arch-arrow-0">
            <a:extLst xmlns:a="http://schemas.openxmlformats.org/drawingml/2006/main">
              <a:ext uri="{FF2B5EF4-FFF2-40B4-BE49-F238E27FC236}">
                <a16:creationId xmlns:a16="http://schemas.microsoft.com/office/drawing/2014/main" id="{D63EA6C8-D24C-4A9A-9F0C-6EBDF76D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952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arch-arrow-1">
            <a:extLst xmlns:a="http://schemas.openxmlformats.org/drawingml/2006/main">
              <a:ext uri="{FF2B5EF4-FFF2-40B4-BE49-F238E27FC236}">
                <a16:creationId xmlns:a16="http://schemas.microsoft.com/office/drawing/2014/main" id="{235D2EE6-E56C-4C72-A127-3B24B84E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52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arch-arrow-2">
            <a:extLst xmlns:a="http://schemas.openxmlformats.org/drawingml/2006/main">
              <a:ext uri="{FF2B5EF4-FFF2-40B4-BE49-F238E27FC236}">
                <a16:creationId xmlns:a16="http://schemas.microsoft.com/office/drawing/2014/main" id="{847279A0-9E63-46B6-8749-48AA628A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52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arch-arrow-3">
            <a:extLst xmlns:a="http://schemas.openxmlformats.org/drawingml/2006/main">
              <a:ext uri="{FF2B5EF4-FFF2-40B4-BE49-F238E27FC236}">
                <a16:creationId xmlns:a16="http://schemas.microsoft.com/office/drawing/2014/main" id="{92D205A6-F7B2-4E83-AECD-1DBA40AF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52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arch-arrow-4">
            <a:extLst xmlns:a="http://schemas.openxmlformats.org/drawingml/2006/main">
              <a:ext uri="{FF2B5EF4-FFF2-40B4-BE49-F238E27FC236}">
                <a16:creationId xmlns:a16="http://schemas.microsoft.com/office/drawing/2014/main" id="{64DCA0BF-D447-43C2-A5DA-37F27C51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arch-Customer">
            <a:extLst xmlns:a="http://schemas.openxmlformats.org/drawingml/2006/main">
              <a:ext uri="{FF2B5EF4-FFF2-40B4-BE49-F238E27FC236}">
                <a16:creationId xmlns:a16="http://schemas.microsoft.com/office/drawing/2014/main" id="{7CF5A62C-886E-4BE7-828B-F7C0980D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1428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1677D2"/>
            </a:solidFill>
            <a:prstDash val="solid"/>
          </a:ln>
        </p:spPr>
      </p:sp>
      <p:sp>
        <p:nvSpPr>
          <p:cNvPr id="11" name="arch-title-Customer">
            <a:extLst xmlns:a="http://schemas.openxmlformats.org/drawingml/2006/main">
              <a:ext uri="{FF2B5EF4-FFF2-40B4-BE49-F238E27FC236}">
                <a16:creationId xmlns:a16="http://schemas.microsoft.com/office/drawing/2014/main" id="{B2F7EC0E-F2ED-4720-BC40-52DD2250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12" name="arch-body-Customer">
            <a:extLst xmlns:a="http://schemas.openxmlformats.org/drawingml/2006/main">
              <a:ext uri="{FF2B5EF4-FFF2-40B4-BE49-F238E27FC236}">
                <a16:creationId xmlns:a16="http://schemas.microsoft.com/office/drawing/2014/main" id="{C03CDDE3-1CEA-4C30-90F1-B7068C9B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B1220"/>
                </a:solidFill>
                <a:latin typeface="Arial"/>
                <a:ea typeface="Arial"/>
                <a:cs typeface="Arial"/>
              </a:rPr>
              <a:t>Complaint</a:t>
            </a:r>
          </a:p>
          <a:p xmlns:a="http://schemas.openxmlformats.org/drawingml/2006/main">
            <a:pPr algn="ctr">
              <a:defRPr sz="12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B1220"/>
                </a:solidFill>
                <a:latin typeface="Arial"/>
                <a:ea typeface="Arial"/>
                <a:cs typeface="Arial"/>
              </a:rPr>
              <a:t>+ email</a:t>
            </a:r>
          </a:p>
        </p:txBody>
      </p:sp>
      <p:sp>
        <p:nvSpPr>
          <p:cNvPr id="13" name="arch-FastAPI">
            <a:extLst xmlns:a="http://schemas.openxmlformats.org/drawingml/2006/main">
              <a:ext uri="{FF2B5EF4-FFF2-40B4-BE49-F238E27FC236}">
                <a16:creationId xmlns:a16="http://schemas.microsoft.com/office/drawing/2014/main" id="{CB57A379-F353-4F12-A2FC-2724B6F2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1428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14" name="arch-title-FastAPI">
            <a:extLst xmlns:a="http://schemas.openxmlformats.org/drawingml/2006/main">
              <a:ext uri="{FF2B5EF4-FFF2-40B4-BE49-F238E27FC236}">
                <a16:creationId xmlns:a16="http://schemas.microsoft.com/office/drawing/2014/main" id="{97BDCECC-67FE-4558-876C-C13C346D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432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5" name="arch-body-FastAPI">
            <a:extLst xmlns:a="http://schemas.openxmlformats.org/drawingml/2006/main">
              <a:ext uri="{FF2B5EF4-FFF2-40B4-BE49-F238E27FC236}">
                <a16:creationId xmlns:a16="http://schemas.microsoft.com/office/drawing/2014/main" id="{8B48B4DC-9764-4204-A0C0-6CE6B6AA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242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B1220"/>
                </a:solidFill>
                <a:latin typeface="Arial"/>
                <a:ea typeface="Arial"/>
                <a:cs typeface="Arial"/>
              </a:rPr>
              <a:t>Validate</a:t>
            </a:r>
          </a:p>
          <a:p xmlns:a="http://schemas.openxmlformats.org/drawingml/2006/main">
            <a:pPr algn="ctr">
              <a:defRPr sz="12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B1220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16" name="arch-Priority Engine">
            <a:extLst xmlns:a="http://schemas.openxmlformats.org/drawingml/2006/main">
              <a:ext uri="{FF2B5EF4-FFF2-40B4-BE49-F238E27FC236}">
                <a16:creationId xmlns:a16="http://schemas.microsoft.com/office/drawing/2014/main" id="{A58869C7-2871-4E1E-9F1D-5E136E94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1428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16A36A"/>
            </a:solidFill>
            <a:prstDash val="solid"/>
          </a:ln>
        </p:spPr>
      </p:sp>
      <p:sp>
        <p:nvSpPr>
          <p:cNvPr id="17" name="arch-title-Priority Engine">
            <a:extLst xmlns:a="http://schemas.openxmlformats.org/drawingml/2006/main">
              <a:ext uri="{FF2B5EF4-FFF2-40B4-BE49-F238E27FC236}">
                <a16:creationId xmlns:a16="http://schemas.microsoft.com/office/drawing/2014/main" id="{FC7716D0-F9B6-4D91-9635-B3F7CE2A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432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63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A36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A36A"/>
                </a:solidFill>
                <a:latin typeface="Arial"/>
                <a:ea typeface="Arial"/>
                <a:cs typeface="Arial"/>
              </a:rPr>
              <a:t>Priority Engine</a:t>
            </a:r>
          </a:p>
        </p:txBody>
      </p:sp>
      <p:sp>
        <p:nvSpPr>
          <p:cNvPr id="18" name="arch-body-Priority Engine">
            <a:extLst xmlns:a="http://schemas.openxmlformats.org/drawingml/2006/main">
              <a:ext uri="{FF2B5EF4-FFF2-40B4-BE49-F238E27FC236}">
                <a16:creationId xmlns:a16="http://schemas.microsoft.com/office/drawing/2014/main" id="{3D7E9CFD-5C79-4CC5-BF4A-CE0195CC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242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121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B1220"/>
                </a:solidFill>
                <a:latin typeface="Arial"/>
                <a:ea typeface="Arial"/>
                <a:cs typeface="Arial"/>
              </a:rPr>
              <a:t>Critical → Low</a:t>
            </a:r>
          </a:p>
        </p:txBody>
      </p:sp>
      <p:sp>
        <p:nvSpPr>
          <p:cNvPr id="19" name="arch-RAG Layer">
            <a:extLst xmlns:a="http://schemas.openxmlformats.org/drawingml/2006/main">
              <a:ext uri="{FF2B5EF4-FFF2-40B4-BE49-F238E27FC236}">
                <a16:creationId xmlns:a16="http://schemas.microsoft.com/office/drawing/2014/main" id="{A44C1042-448A-4EDC-A6CF-28CAAAAF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1428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ECFF"/>
          </a:solidFill>
          <a:ln xmlns:a="http://schemas.openxmlformats.org/drawingml/2006/main" w="9525">
            <a:solidFill>
              <a:srgbClr val="7746C4"/>
            </a:solidFill>
            <a:prstDash val="solid"/>
          </a:ln>
        </p:spPr>
      </p:sp>
      <p:sp>
        <p:nvSpPr>
          <p:cNvPr id="20" name="arch-title-RAG Layer">
            <a:extLst xmlns:a="http://schemas.openxmlformats.org/drawingml/2006/main">
              <a:ext uri="{FF2B5EF4-FFF2-40B4-BE49-F238E27FC236}">
                <a16:creationId xmlns:a16="http://schemas.microsoft.com/office/drawing/2014/main" id="{B74AED69-14C5-4839-8DD6-18360360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432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746C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746C4"/>
                </a:solidFill>
                <a:latin typeface="Arial"/>
                <a:ea typeface="Arial"/>
                <a:cs typeface="Arial"/>
              </a:rPr>
              <a:t>RAG Layer</a:t>
            </a:r>
          </a:p>
        </p:txBody>
      </p:sp>
      <p:sp>
        <p:nvSpPr>
          <p:cNvPr id="21" name="arch-body-RAG Layer">
            <a:extLst xmlns:a="http://schemas.openxmlformats.org/drawingml/2006/main">
              <a:ext uri="{FF2B5EF4-FFF2-40B4-BE49-F238E27FC236}">
                <a16:creationId xmlns:a16="http://schemas.microsoft.com/office/drawing/2014/main" id="{477B6E83-BF14-4EB2-9C80-830BD518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242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B1220"/>
                </a:solidFill>
                <a:latin typeface="Arial"/>
                <a:ea typeface="Arial"/>
                <a:cs typeface="Arial"/>
              </a:rPr>
              <a:t>Resolver Base</a:t>
            </a:r>
          </a:p>
          <a:p xmlns:a="http://schemas.openxmlformats.org/drawingml/2006/main">
            <a:pPr algn="ctr">
              <a:defRPr sz="12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B1220"/>
                </a:solidFill>
                <a:latin typeface="Arial"/>
                <a:ea typeface="Arial"/>
                <a:cs typeface="Arial"/>
              </a:rPr>
              <a:t>then KB</a:t>
            </a:r>
          </a:p>
        </p:txBody>
      </p:sp>
      <p:sp>
        <p:nvSpPr>
          <p:cNvPr id="22" name="arch-LLM">
            <a:extLst xmlns:a="http://schemas.openxmlformats.org/drawingml/2006/main">
              <a:ext uri="{FF2B5EF4-FFF2-40B4-BE49-F238E27FC236}">
                <a16:creationId xmlns:a16="http://schemas.microsoft.com/office/drawing/2014/main" id="{05C8CCE5-D9DC-4ADF-9FD0-F4A7816C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1428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D88900"/>
            </a:solidFill>
            <a:prstDash val="solid"/>
          </a:ln>
        </p:spPr>
      </p:sp>
      <p:sp>
        <p:nvSpPr>
          <p:cNvPr id="23" name="arch-title-LLM">
            <a:extLst xmlns:a="http://schemas.openxmlformats.org/drawingml/2006/main">
              <a:ext uri="{FF2B5EF4-FFF2-40B4-BE49-F238E27FC236}">
                <a16:creationId xmlns:a16="http://schemas.microsoft.com/office/drawing/2014/main" id="{D0A0AECA-7894-4DB4-A44B-D927C150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432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889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88900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24" name="arch-body-LLM">
            <a:extLst xmlns:a="http://schemas.openxmlformats.org/drawingml/2006/main">
              <a:ext uri="{FF2B5EF4-FFF2-40B4-BE49-F238E27FC236}">
                <a16:creationId xmlns:a16="http://schemas.microsoft.com/office/drawing/2014/main" id="{CB498149-9DF8-4016-9E8F-7C5FA50C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242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B1220"/>
                </a:solidFill>
                <a:latin typeface="Arial"/>
                <a:ea typeface="Arial"/>
                <a:cs typeface="Arial"/>
              </a:rPr>
              <a:t>Structure</a:t>
            </a:r>
          </a:p>
          <a:p xmlns:a="http://schemas.openxmlformats.org/drawingml/2006/main">
            <a:pPr algn="ctr">
              <a:defRPr sz="12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B1220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25" name="arch-Admin / Email">
            <a:extLst xmlns:a="http://schemas.openxmlformats.org/drawingml/2006/main">
              <a:ext uri="{FF2B5EF4-FFF2-40B4-BE49-F238E27FC236}">
                <a16:creationId xmlns:a16="http://schemas.microsoft.com/office/drawing/2014/main" id="{D81C9736-34E0-415A-B718-B0517BE2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71750"/>
            <a:ext cx="1428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D9485F"/>
            </a:solidFill>
            <a:prstDash val="solid"/>
          </a:ln>
        </p:spPr>
      </p:sp>
      <p:sp>
        <p:nvSpPr>
          <p:cNvPr id="26" name="arch-title-Admin / Email">
            <a:extLst xmlns:a="http://schemas.openxmlformats.org/drawingml/2006/main">
              <a:ext uri="{FF2B5EF4-FFF2-40B4-BE49-F238E27FC236}">
                <a16:creationId xmlns:a16="http://schemas.microsoft.com/office/drawing/2014/main" id="{AFB22723-45E7-4166-ABA5-4BDF4842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7432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948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9485F"/>
                </a:solidFill>
                <a:latin typeface="Arial"/>
                <a:ea typeface="Arial"/>
                <a:cs typeface="Arial"/>
              </a:rPr>
              <a:t>Admin / Email</a:t>
            </a:r>
          </a:p>
        </p:txBody>
      </p:sp>
      <p:sp>
        <p:nvSpPr>
          <p:cNvPr id="27" name="arch-body-Admin / Email">
            <a:extLst xmlns:a="http://schemas.openxmlformats.org/drawingml/2006/main">
              <a:ext uri="{FF2B5EF4-FFF2-40B4-BE49-F238E27FC236}">
                <a16:creationId xmlns:a16="http://schemas.microsoft.com/office/drawing/2014/main" id="{8AB75477-07BC-44CE-831D-18E79845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242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B1220"/>
                </a:solidFill>
                <a:latin typeface="Arial"/>
                <a:ea typeface="Arial"/>
                <a:cs typeface="Arial"/>
              </a:rPr>
              <a:t>Feedback</a:t>
            </a:r>
          </a:p>
          <a:p xmlns:a="http://schemas.openxmlformats.org/drawingml/2006/main">
            <a:pPr algn="ctr">
              <a:defRPr sz="12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B1220"/>
                </a:solidFill>
                <a:latin typeface="Arial"/>
                <a:ea typeface="Arial"/>
                <a:cs typeface="Arial"/>
              </a:rPr>
              <a:t>escalation</a:t>
            </a:r>
          </a:p>
        </p:txBody>
      </p:sp>
      <p:sp>
        <p:nvSpPr>
          <p:cNvPr id="28" name="arch-note">
            <a:extLst xmlns:a="http://schemas.openxmlformats.org/drawingml/2006/main">
              <a:ext uri="{FF2B5EF4-FFF2-40B4-BE49-F238E27FC236}">
                <a16:creationId xmlns:a16="http://schemas.microsoft.com/office/drawing/2014/main" id="{244E5050-82D4-4AEE-80D0-3D8E327A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975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26173"/>
                </a:solidFill>
                <a:latin typeface="Arial"/>
                <a:ea typeface="Arial"/>
                <a:cs typeface="Arial"/>
              </a:rPr>
              <a:t>The response remains asynchronous after intake: the API returns a complaint ID while the queue worker performs retrieval and generation.</a:t>
            </a:r>
          </a:p>
        </p:txBody>
      </p:sp>
    </p:spTree>
    <p:extLst>
      <p:ext uri="{BB962C8B-B14F-4D97-AF65-F5344CB8AC3E}">
        <p14:creationId xmlns:p14="http://schemas.microsoft.com/office/powerpoint/2010/main" val="14988113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4">
            <a:extLst xmlns:a="http://schemas.openxmlformats.org/drawingml/2006/main">
              <a:ext uri="{FF2B5EF4-FFF2-40B4-BE49-F238E27FC236}">
                <a16:creationId xmlns:a16="http://schemas.microsoft.com/office/drawing/2014/main" id="{3DBD818D-F98F-44CF-87CA-BBE50CD8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03 / REQUEST HANDLING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DFFE6DD1-82C1-4025-B9E2-63BCBF72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82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Every complaint is classified before it reaches the resolution pipeline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BE4F60F1-A027-4AEF-AF83-F0027361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625ED741-FCAE-4098-BD8C-8B5D0881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261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ntake-copy">
            <a:extLst xmlns:a="http://schemas.openxmlformats.org/drawingml/2006/main">
              <a:ext uri="{FF2B5EF4-FFF2-40B4-BE49-F238E27FC236}">
                <a16:creationId xmlns:a16="http://schemas.microsoft.com/office/drawing/2014/main" id="{0BD97ABE-23C0-4D60-B210-41C0D2B9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435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26173"/>
                </a:solidFill>
                <a:latin typeface="Arial"/>
                <a:ea typeface="Arial"/>
                <a:cs typeface="Arial"/>
              </a:rPr>
              <a:t>The priority model produces an urgency level and priority label. The scheduler then places the request into one of four ordered queues.</a:t>
            </a:r>
          </a:p>
        </p:txBody>
      </p:sp>
      <p:sp>
        <p:nvSpPr>
          <p:cNvPr id="6" name="priority-0">
            <a:extLst xmlns:a="http://schemas.openxmlformats.org/drawingml/2006/main">
              <a:ext uri="{FF2B5EF4-FFF2-40B4-BE49-F238E27FC236}">
                <a16:creationId xmlns:a16="http://schemas.microsoft.com/office/drawing/2014/main" id="{FA1D4B75-8769-42E8-8B09-9400910C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247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485F"/>
            </a:solidFill>
            <a:prstDash val="solid"/>
          </a:ln>
        </p:spPr>
      </p:sp>
      <p:sp>
        <p:nvSpPr>
          <p:cNvPr id="7" name="priority-label-0">
            <a:extLst xmlns:a="http://schemas.openxmlformats.org/drawingml/2006/main">
              <a:ext uri="{FF2B5EF4-FFF2-40B4-BE49-F238E27FC236}">
                <a16:creationId xmlns:a16="http://schemas.microsoft.com/office/drawing/2014/main" id="{C1C8DF16-238A-46A4-B365-7BE72DC8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48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485F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8" name="priority-name-0">
            <a:extLst xmlns:a="http://schemas.openxmlformats.org/drawingml/2006/main">
              <a:ext uri="{FF2B5EF4-FFF2-40B4-BE49-F238E27FC236}">
                <a16:creationId xmlns:a16="http://schemas.microsoft.com/office/drawing/2014/main" id="{BBAA4D6E-B31F-411A-B6E9-20C60068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Critical</a:t>
            </a:r>
          </a:p>
        </p:txBody>
      </p:sp>
      <p:sp>
        <p:nvSpPr>
          <p:cNvPr id="9" name="priority-desc-0">
            <a:extLst xmlns:a="http://schemas.openxmlformats.org/drawingml/2006/main">
              <a:ext uri="{FF2B5EF4-FFF2-40B4-BE49-F238E27FC236}">
                <a16:creationId xmlns:a16="http://schemas.microsoft.com/office/drawing/2014/main" id="{F9D6093E-731D-4D0D-9F47-8D590DFA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3"/>
                </a:solidFill>
                <a:latin typeface="Arial"/>
                <a:ea typeface="Arial"/>
                <a:cs typeface="Arial"/>
              </a:rPr>
              <a:t>Immediate attention</a:t>
            </a:r>
          </a:p>
        </p:txBody>
      </p:sp>
      <p:sp>
        <p:nvSpPr>
          <p:cNvPr id="10" name="priority-1">
            <a:extLst xmlns:a="http://schemas.openxmlformats.org/drawingml/2006/main">
              <a:ext uri="{FF2B5EF4-FFF2-40B4-BE49-F238E27FC236}">
                <a16:creationId xmlns:a16="http://schemas.microsoft.com/office/drawing/2014/main" id="{47A7117F-E9DC-4C6B-9287-FFB5509A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62250"/>
            <a:ext cx="2247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7A25"/>
            </a:solidFill>
            <a:prstDash val="solid"/>
          </a:ln>
        </p:spPr>
      </p:sp>
      <p:sp>
        <p:nvSpPr>
          <p:cNvPr id="11" name="priority-label-1">
            <a:extLst xmlns:a="http://schemas.openxmlformats.org/drawingml/2006/main">
              <a:ext uri="{FF2B5EF4-FFF2-40B4-BE49-F238E27FC236}">
                <a16:creationId xmlns:a16="http://schemas.microsoft.com/office/drawing/2014/main" id="{27DCC36E-0D41-4EEB-9981-E71E973C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718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47A2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47A25"/>
                </a:solidFill>
                <a:latin typeface="Arial"/>
                <a:ea typeface="Arial"/>
                <a:cs typeface="Arial"/>
              </a:rPr>
              <a:t>P2</a:t>
            </a:r>
          </a:p>
        </p:txBody>
      </p:sp>
      <p:sp>
        <p:nvSpPr>
          <p:cNvPr id="12" name="priority-name-1">
            <a:extLst xmlns:a="http://schemas.openxmlformats.org/drawingml/2006/main">
              <a:ext uri="{FF2B5EF4-FFF2-40B4-BE49-F238E27FC236}">
                <a16:creationId xmlns:a16="http://schemas.microsoft.com/office/drawing/2014/main" id="{54644893-3170-4E08-B839-55F2DBB8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766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3" name="priority-desc-1">
            <a:extLst xmlns:a="http://schemas.openxmlformats.org/drawingml/2006/main">
              <a:ext uri="{FF2B5EF4-FFF2-40B4-BE49-F238E27FC236}">
                <a16:creationId xmlns:a16="http://schemas.microsoft.com/office/drawing/2014/main" id="{552FEF82-F52C-462D-B11E-CB6D2A88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433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3"/>
                </a:solidFill>
                <a:latin typeface="Arial"/>
                <a:ea typeface="Arial"/>
                <a:cs typeface="Arial"/>
              </a:rPr>
              <a:t>Urgent service impact</a:t>
            </a:r>
          </a:p>
        </p:txBody>
      </p:sp>
      <p:sp>
        <p:nvSpPr>
          <p:cNvPr id="14" name="priority-2">
            <a:extLst xmlns:a="http://schemas.openxmlformats.org/drawingml/2006/main">
              <a:ext uri="{FF2B5EF4-FFF2-40B4-BE49-F238E27FC236}">
                <a16:creationId xmlns:a16="http://schemas.microsoft.com/office/drawing/2014/main" id="{E7D83434-A28E-47C8-AD13-A7910B50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62250"/>
            <a:ext cx="2247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77D2"/>
            </a:solidFill>
            <a:prstDash val="solid"/>
          </a:ln>
        </p:spPr>
      </p:sp>
      <p:sp>
        <p:nvSpPr>
          <p:cNvPr id="15" name="priority-label-2">
            <a:extLst xmlns:a="http://schemas.openxmlformats.org/drawingml/2006/main">
              <a:ext uri="{FF2B5EF4-FFF2-40B4-BE49-F238E27FC236}">
                <a16:creationId xmlns:a16="http://schemas.microsoft.com/office/drawing/2014/main" id="{943A37D5-2747-41B3-8CDB-DA85F2D3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718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P3</a:t>
            </a:r>
          </a:p>
        </p:txBody>
      </p:sp>
      <p:sp>
        <p:nvSpPr>
          <p:cNvPr id="16" name="priority-name-2">
            <a:extLst xmlns:a="http://schemas.openxmlformats.org/drawingml/2006/main">
              <a:ext uri="{FF2B5EF4-FFF2-40B4-BE49-F238E27FC236}">
                <a16:creationId xmlns:a16="http://schemas.microsoft.com/office/drawing/2014/main" id="{E8A6BE77-E0A1-45B8-B99E-9B250887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766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17" name="priority-desc-2">
            <a:extLst xmlns:a="http://schemas.openxmlformats.org/drawingml/2006/main">
              <a:ext uri="{FF2B5EF4-FFF2-40B4-BE49-F238E27FC236}">
                <a16:creationId xmlns:a16="http://schemas.microsoft.com/office/drawing/2014/main" id="{648B0A08-2E7F-4145-8260-E7DB010A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3"/>
                </a:solidFill>
                <a:latin typeface="Arial"/>
                <a:ea typeface="Arial"/>
                <a:cs typeface="Arial"/>
              </a:rPr>
              <a:t>Standard complaint</a:t>
            </a:r>
          </a:p>
        </p:txBody>
      </p:sp>
      <p:sp>
        <p:nvSpPr>
          <p:cNvPr id="18" name="priority-3">
            <a:extLst xmlns:a="http://schemas.openxmlformats.org/drawingml/2006/main">
              <a:ext uri="{FF2B5EF4-FFF2-40B4-BE49-F238E27FC236}">
                <a16:creationId xmlns:a16="http://schemas.microsoft.com/office/drawing/2014/main" id="{30EF67F8-F760-4AB8-8CD9-DE9E2049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62250"/>
            <a:ext cx="2247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6A"/>
            </a:solidFill>
            <a:prstDash val="solid"/>
          </a:ln>
        </p:spPr>
      </p:sp>
      <p:sp>
        <p:nvSpPr>
          <p:cNvPr id="19" name="priority-label-3">
            <a:extLst xmlns:a="http://schemas.openxmlformats.org/drawingml/2006/main">
              <a:ext uri="{FF2B5EF4-FFF2-40B4-BE49-F238E27FC236}">
                <a16:creationId xmlns:a16="http://schemas.microsoft.com/office/drawing/2014/main" id="{337AEE92-B428-46EF-8329-22B7ADA6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718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A36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36A"/>
                </a:solidFill>
                <a:latin typeface="Arial"/>
                <a:ea typeface="Arial"/>
                <a:cs typeface="Arial"/>
              </a:rPr>
              <a:t>P4</a:t>
            </a:r>
          </a:p>
        </p:txBody>
      </p:sp>
      <p:sp>
        <p:nvSpPr>
          <p:cNvPr id="20" name="priority-name-3">
            <a:extLst xmlns:a="http://schemas.openxmlformats.org/drawingml/2006/main">
              <a:ext uri="{FF2B5EF4-FFF2-40B4-BE49-F238E27FC236}">
                <a16:creationId xmlns:a16="http://schemas.microsoft.com/office/drawing/2014/main" id="{DD5A83D2-EA8E-4A9F-BEB5-3A64F7CA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766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sp>
        <p:nvSpPr>
          <p:cNvPr id="21" name="priority-desc-3">
            <a:extLst xmlns:a="http://schemas.openxmlformats.org/drawingml/2006/main">
              <a:ext uri="{FF2B5EF4-FFF2-40B4-BE49-F238E27FC236}">
                <a16:creationId xmlns:a16="http://schemas.microsoft.com/office/drawing/2014/main" id="{07EEBBAA-3DA8-4224-BD89-CD635D7F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433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3"/>
                </a:solidFill>
                <a:latin typeface="Arial"/>
                <a:ea typeface="Arial"/>
                <a:cs typeface="Arial"/>
              </a:rPr>
              <a:t>Non-urgent request</a:t>
            </a:r>
          </a:p>
        </p:txBody>
      </p:sp>
      <p:sp>
        <p:nvSpPr>
          <p:cNvPr id="22" name="priority-result">
            <a:extLst xmlns:a="http://schemas.openxmlformats.org/drawingml/2006/main">
              <a:ext uri="{FF2B5EF4-FFF2-40B4-BE49-F238E27FC236}">
                <a16:creationId xmlns:a16="http://schemas.microsoft.com/office/drawing/2014/main" id="{96610324-B122-4902-8C4A-F1E88807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387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Output: urgency + priority + queue assignment</a:t>
            </a:r>
          </a:p>
        </p:txBody>
      </p:sp>
    </p:spTree>
    <p:extLst>
      <p:ext uri="{BB962C8B-B14F-4D97-AF65-F5344CB8AC3E}">
        <p14:creationId xmlns:p14="http://schemas.microsoft.com/office/powerpoint/2010/main" val="17375371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5">
            <a:extLst xmlns:a="http://schemas.openxmlformats.org/drawingml/2006/main">
              <a:ext uri="{FF2B5EF4-FFF2-40B4-BE49-F238E27FC236}">
                <a16:creationId xmlns:a16="http://schemas.microsoft.com/office/drawing/2014/main" id="{5D39F7D7-CBCD-4740-ADE6-C51C0C62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04 / QUEUE ALGORITHM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9ACEC8D-A31D-4F61-B410-6AF60035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87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scheduler uses all available capacity, then carries unused slots downward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5BA09E97-9499-4631-9DC7-23F93123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773B73B4-6222-415D-98E0-2D4A36B8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261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queue-copy">
            <a:extLst xmlns:a="http://schemas.openxmlformats.org/drawingml/2006/main">
              <a:ext uri="{FF2B5EF4-FFF2-40B4-BE49-F238E27FC236}">
                <a16:creationId xmlns:a16="http://schemas.microsoft.com/office/drawing/2014/main" id="{5CABCF6F-D263-493B-BD16-1B999061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26173"/>
                </a:solidFill>
                <a:latin typeface="Arial"/>
                <a:ea typeface="Arial"/>
                <a:cs typeface="Arial"/>
              </a:rPr>
              <a:t>Configured allocation per processing cycle</a:t>
            </a:r>
          </a:p>
        </p:txBody>
      </p:sp>
      <p:sp>
        <p:nvSpPr>
          <p:cNvPr id="6" name="capacity-Critical">
            <a:extLst xmlns:a="http://schemas.openxmlformats.org/drawingml/2006/main">
              <a:ext uri="{FF2B5EF4-FFF2-40B4-BE49-F238E27FC236}">
                <a16:creationId xmlns:a16="http://schemas.microsoft.com/office/drawing/2014/main" id="{698E96C3-0319-411D-BF41-26AB8A94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4305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85F"/>
          </a:solidFill>
          <a:ln xmlns:a="http://schemas.openxmlformats.org/drawingml/2006/main" w="9525">
            <a:solidFill>
              <a:srgbClr val="D9485F"/>
            </a:solidFill>
            <a:prstDash val="solid"/>
          </a:ln>
        </p:spPr>
      </p:sp>
      <p:sp>
        <p:nvSpPr>
          <p:cNvPr id="7" name="capacity-text-Critical">
            <a:extLst xmlns:a="http://schemas.openxmlformats.org/drawingml/2006/main">
              <a:ext uri="{FF2B5EF4-FFF2-40B4-BE49-F238E27FC236}">
                <a16:creationId xmlns:a16="http://schemas.microsoft.com/office/drawing/2014/main" id="{1F17D89F-C803-4C6C-9E70-560802C3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8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Critical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sp>
        <p:nvSpPr>
          <p:cNvPr id="8" name="capacity-High">
            <a:extLst xmlns:a="http://schemas.openxmlformats.org/drawingml/2006/main">
              <a:ext uri="{FF2B5EF4-FFF2-40B4-BE49-F238E27FC236}">
                <a16:creationId xmlns:a16="http://schemas.microsoft.com/office/drawing/2014/main" id="{5E353314-0A38-4FB8-8AD7-5EA5441D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62200"/>
            <a:ext cx="32289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A25"/>
          </a:solidFill>
          <a:ln xmlns:a="http://schemas.openxmlformats.org/drawingml/2006/main" w="9525">
            <a:solidFill>
              <a:srgbClr val="E47A25"/>
            </a:solidFill>
            <a:prstDash val="solid"/>
          </a:ln>
        </p:spPr>
      </p:sp>
      <p:sp>
        <p:nvSpPr>
          <p:cNvPr id="9" name="capacity-text-High">
            <a:extLst xmlns:a="http://schemas.openxmlformats.org/drawingml/2006/main">
              <a:ext uri="{FF2B5EF4-FFF2-40B4-BE49-F238E27FC236}">
                <a16:creationId xmlns:a16="http://schemas.microsoft.com/office/drawing/2014/main" id="{D9991A45-FDE3-4483-B98A-B8079F5A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86025"/>
            <a:ext cx="32289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8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High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0" name="capacity-Medium">
            <a:extLst xmlns:a="http://schemas.openxmlformats.org/drawingml/2006/main">
              <a:ext uri="{FF2B5EF4-FFF2-40B4-BE49-F238E27FC236}">
                <a16:creationId xmlns:a16="http://schemas.microsoft.com/office/drawing/2014/main" id="{0B985B71-9933-49B9-8AD2-B0142076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362200"/>
            <a:ext cx="2152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D2"/>
          </a:solidFill>
          <a:ln xmlns:a="http://schemas.openxmlformats.org/drawingml/2006/main" w="9525">
            <a:solidFill>
              <a:srgbClr val="1677D2"/>
            </a:solidFill>
            <a:prstDash val="solid"/>
          </a:ln>
        </p:spPr>
      </p:sp>
      <p:sp>
        <p:nvSpPr>
          <p:cNvPr id="11" name="capacity-text-Medium">
            <a:extLst xmlns:a="http://schemas.openxmlformats.org/drawingml/2006/main">
              <a:ext uri="{FF2B5EF4-FFF2-40B4-BE49-F238E27FC236}">
                <a16:creationId xmlns:a16="http://schemas.microsoft.com/office/drawing/2014/main" id="{80376839-3622-4038-9136-F12E69D6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486025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8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Medium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2" name="capacity-Low">
            <a:extLst xmlns:a="http://schemas.openxmlformats.org/drawingml/2006/main">
              <a:ext uri="{FF2B5EF4-FFF2-40B4-BE49-F238E27FC236}">
                <a16:creationId xmlns:a16="http://schemas.microsoft.com/office/drawing/2014/main" id="{DC2DCA76-4CA7-48F7-98DE-911DD9A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362200"/>
            <a:ext cx="10763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A"/>
          </a:solidFill>
          <a:ln xmlns:a="http://schemas.openxmlformats.org/drawingml/2006/main" w="9525">
            <a:solidFill>
              <a:srgbClr val="16A36A"/>
            </a:solidFill>
            <a:prstDash val="solid"/>
          </a:ln>
        </p:spPr>
      </p:sp>
      <p:sp>
        <p:nvSpPr>
          <p:cNvPr id="13" name="capacity-text-Low">
            <a:extLst xmlns:a="http://schemas.openxmlformats.org/drawingml/2006/main">
              <a:ext uri="{FF2B5EF4-FFF2-40B4-BE49-F238E27FC236}">
                <a16:creationId xmlns:a16="http://schemas.microsoft.com/office/drawing/2014/main" id="{E2E2BA36-4E01-499E-87A1-7E3929EC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486025"/>
            <a:ext cx="1076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8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Low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14" name="step-num-0">
            <a:extLst xmlns:a="http://schemas.openxmlformats.org/drawingml/2006/main">
              <a:ext uri="{FF2B5EF4-FFF2-40B4-BE49-F238E27FC236}">
                <a16:creationId xmlns:a16="http://schemas.microsoft.com/office/drawing/2014/main" id="{6FCFE312-515B-467B-9E92-C07FE4D8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step-text-0">
            <a:extLst xmlns:a="http://schemas.openxmlformats.org/drawingml/2006/main">
              <a:ext uri="{FF2B5EF4-FFF2-40B4-BE49-F238E27FC236}">
                <a16:creationId xmlns:a16="http://schemas.microsoft.com/office/drawing/2014/main" id="{6E33E830-1898-4E81-AC26-DCA7850D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52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5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Process Critical first</a:t>
            </a:r>
          </a:p>
        </p:txBody>
      </p:sp>
      <p:sp>
        <p:nvSpPr>
          <p:cNvPr id="1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F111FBF2-8C00-4E9E-AD4B-7EEE0323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433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94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step-num-1">
            <a:extLst xmlns:a="http://schemas.openxmlformats.org/drawingml/2006/main">
              <a:ext uri="{FF2B5EF4-FFF2-40B4-BE49-F238E27FC236}">
                <a16:creationId xmlns:a16="http://schemas.microsoft.com/office/drawing/2014/main" id="{8DCCD7D9-CB9A-4B1C-B78F-658E469C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052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step-text-1">
            <a:extLst xmlns:a="http://schemas.openxmlformats.org/drawingml/2006/main">
              <a:ext uri="{FF2B5EF4-FFF2-40B4-BE49-F238E27FC236}">
                <a16:creationId xmlns:a16="http://schemas.microsoft.com/office/drawing/2014/main" id="{770424CD-FCE1-49E0-B7A2-6488C6C0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52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78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Unused capacity → High</a:t>
            </a:r>
          </a:p>
        </p:txBody>
      </p:sp>
      <p:sp>
        <p:nvSpPr>
          <p:cNvPr id="19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B425F8A9-59DF-42B5-9D1A-8B85B62A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433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94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step-num-2">
            <a:extLst xmlns:a="http://schemas.openxmlformats.org/drawingml/2006/main">
              <a:ext uri="{FF2B5EF4-FFF2-40B4-BE49-F238E27FC236}">
                <a16:creationId xmlns:a16="http://schemas.microsoft.com/office/drawing/2014/main" id="{1D31779C-B05D-499F-804C-61A9C5FC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step-text-2">
            <a:extLst xmlns:a="http://schemas.openxmlformats.org/drawingml/2006/main">
              <a:ext uri="{FF2B5EF4-FFF2-40B4-BE49-F238E27FC236}">
                <a16:creationId xmlns:a16="http://schemas.microsoft.com/office/drawing/2014/main" id="{F614E1D7-4649-42AE-B84A-653A1F69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52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05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Unused capacity → Medium</a:t>
            </a:r>
          </a:p>
        </p:txBody>
      </p:sp>
      <p:sp>
        <p:nvSpPr>
          <p:cNvPr id="22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40026EC4-4A62-4F2C-A0C1-5D38913B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433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94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step-num-3">
            <a:extLst xmlns:a="http://schemas.openxmlformats.org/drawingml/2006/main">
              <a:ext uri="{FF2B5EF4-FFF2-40B4-BE49-F238E27FC236}">
                <a16:creationId xmlns:a16="http://schemas.microsoft.com/office/drawing/2014/main" id="{244685A0-0AEA-4689-B81D-1518F90A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052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step-text-3">
            <a:extLst xmlns:a="http://schemas.openxmlformats.org/drawingml/2006/main">
              <a:ext uri="{FF2B5EF4-FFF2-40B4-BE49-F238E27FC236}">
                <a16:creationId xmlns:a16="http://schemas.microsoft.com/office/drawing/2014/main" id="{ACD31639-32D0-4D34-8E49-4A9359F7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52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05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Unused capacity → Low</a:t>
            </a:r>
          </a:p>
        </p:txBody>
      </p:sp>
      <p:sp>
        <p:nvSpPr>
          <p:cNvPr id="25" name="queue-note">
            <a:extLst xmlns:a="http://schemas.openxmlformats.org/drawingml/2006/main">
              <a:ext uri="{FF2B5EF4-FFF2-40B4-BE49-F238E27FC236}">
                <a16:creationId xmlns:a16="http://schemas.microsoft.com/office/drawing/2014/main" id="{6CE79528-79BC-47E1-9F16-9FBE7E6F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86375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173"/>
                </a:solidFill>
                <a:latin typeface="Arial"/>
                <a:ea typeface="Arial"/>
                <a:cs typeface="Arial"/>
              </a:rPr>
              <a:t>Requests that cannot be processed remain in their original queue for the next cycle.</a:t>
            </a:r>
          </a:p>
        </p:txBody>
      </p:sp>
    </p:spTree>
    <p:extLst>
      <p:ext uri="{BB962C8B-B14F-4D97-AF65-F5344CB8AC3E}">
        <p14:creationId xmlns:p14="http://schemas.microsoft.com/office/powerpoint/2010/main" val="17239712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6">
            <a:extLst xmlns:a="http://schemas.openxmlformats.org/drawingml/2006/main">
              <a:ext uri="{FF2B5EF4-FFF2-40B4-BE49-F238E27FC236}">
                <a16:creationId xmlns:a16="http://schemas.microsoft.com/office/drawing/2014/main" id="{5F68DA16-1C44-4E47-8E26-46251485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05 / RESOLUTION INTELLIGENCE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F914B3C1-38DA-4BF8-A354-BFF43C3B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32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Approved technician knowledge is checked before the general knowledge base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F1D6A6A1-DD3E-49ED-B0F4-755640FC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13A6A7BD-37D2-4D9B-9AEF-997BF988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261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rag-copy">
            <a:extLst xmlns:a="http://schemas.openxmlformats.org/drawingml/2006/main">
              <a:ext uri="{FF2B5EF4-FFF2-40B4-BE49-F238E27FC236}">
                <a16:creationId xmlns:a16="http://schemas.microsoft.com/office/drawing/2014/main" id="{804A6966-ED74-4A6B-BCB7-D92DD0BF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76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26173"/>
                </a:solidFill>
                <a:latin typeface="Arial"/>
                <a:ea typeface="Arial"/>
                <a:cs typeface="Arial"/>
              </a:rPr>
              <a:t>This ordering lets a technician-approved resolution influence future complaints without replacing the broader telecom knowledge base.</a:t>
            </a:r>
          </a:p>
        </p:txBody>
      </p:sp>
      <p:sp>
        <p:nvSpPr>
          <p:cNvPr id="6" name="rag-query">
            <a:extLst xmlns:a="http://schemas.openxmlformats.org/drawingml/2006/main">
              <a:ext uri="{FF2B5EF4-FFF2-40B4-BE49-F238E27FC236}">
                <a16:creationId xmlns:a16="http://schemas.microsoft.com/office/drawing/2014/main" id="{3D318E1D-014B-4D4A-AD28-0E80BD6A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9E5F3"/>
            </a:solidFill>
            <a:prstDash val="solid"/>
          </a:ln>
        </p:spPr>
      </p:sp>
      <p:sp>
        <p:nvSpPr>
          <p:cNvPr id="7" name="rag-query-text">
            <a:extLst xmlns:a="http://schemas.openxmlformats.org/drawingml/2006/main">
              <a:ext uri="{FF2B5EF4-FFF2-40B4-BE49-F238E27FC236}">
                <a16:creationId xmlns:a16="http://schemas.microsoft.com/office/drawing/2014/main" id="{6D868013-876C-4583-A4AB-5BE5271C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New complaint</a:t>
            </a:r>
          </a:p>
        </p:txBody>
      </p:sp>
      <p:sp>
        <p:nvSpPr>
          <p:cNvPr id="8" name="rag-a1">
            <a:extLst xmlns:a="http://schemas.openxmlformats.org/drawingml/2006/main">
              <a:ext uri="{FF2B5EF4-FFF2-40B4-BE49-F238E27FC236}">
                <a16:creationId xmlns:a16="http://schemas.microsoft.com/office/drawing/2014/main" id="{DC354A32-6A54-490D-932F-4B39EC79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242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rag-resolver">
            <a:extLst xmlns:a="http://schemas.openxmlformats.org/drawingml/2006/main">
              <a:ext uri="{FF2B5EF4-FFF2-40B4-BE49-F238E27FC236}">
                <a16:creationId xmlns:a16="http://schemas.microsoft.com/office/drawing/2014/main" id="{D6DB432B-2D7B-4AAD-98DA-172566ED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38375"/>
            <a:ext cx="27622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2ECFF"/>
          </a:solidFill>
          <a:ln xmlns:a="http://schemas.openxmlformats.org/drawingml/2006/main" w="9525">
            <a:solidFill>
              <a:srgbClr val="BBA3E8"/>
            </a:solidFill>
            <a:prstDash val="solid"/>
          </a:ln>
        </p:spPr>
      </p:sp>
      <p:sp>
        <p:nvSpPr>
          <p:cNvPr id="10" name="rag-resolver-title">
            <a:extLst xmlns:a="http://schemas.openxmlformats.org/drawingml/2006/main">
              <a:ext uri="{FF2B5EF4-FFF2-40B4-BE49-F238E27FC236}">
                <a16:creationId xmlns:a16="http://schemas.microsoft.com/office/drawing/2014/main" id="{A7DB422D-D6A3-4878-BA56-76CDBC2E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527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746C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746C4"/>
                </a:solidFill>
                <a:latin typeface="Arial"/>
                <a:ea typeface="Arial"/>
                <a:cs typeface="Arial"/>
              </a:rPr>
              <a:t>Resolver Base</a:t>
            </a:r>
          </a:p>
        </p:txBody>
      </p:sp>
      <p:sp>
        <p:nvSpPr>
          <p:cNvPr id="11" name="rag-resolver-body">
            <a:extLst xmlns:a="http://schemas.openxmlformats.org/drawingml/2006/main">
              <a:ext uri="{FF2B5EF4-FFF2-40B4-BE49-F238E27FC236}">
                <a16:creationId xmlns:a16="http://schemas.microsoft.com/office/drawing/2014/main" id="{BFB07E04-A940-42C0-B0CF-5CBD80C5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86100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976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B1220"/>
                </a:solidFill>
                <a:latin typeface="Arial"/>
                <a:ea typeface="Arial"/>
                <a:cs typeface="Arial"/>
              </a:rPr>
              <a:t>Technician-approved</a:t>
            </a:r>
          </a:p>
          <a:p xmlns:a="http://schemas.openxmlformats.org/drawingml/2006/main">
            <a:pPr algn="ctr">
              <a:defRPr sz="142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B1220"/>
                </a:solidFill>
                <a:latin typeface="Arial"/>
                <a:ea typeface="Arial"/>
                <a:cs typeface="Arial"/>
              </a:rPr>
              <a:t>Markdown + embeddings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B1220"/>
                </a:solidFill>
                <a:latin typeface="Arial"/>
                <a:ea typeface="Arial"/>
                <a:cs typeface="Arial"/>
              </a:rPr>
              <a:t>If matched: use this case</a:t>
            </a:r>
          </a:p>
        </p:txBody>
      </p:sp>
      <p:sp>
        <p:nvSpPr>
          <p:cNvPr id="12" name="rag-a2">
            <a:extLst xmlns:a="http://schemas.openxmlformats.org/drawingml/2006/main">
              <a:ext uri="{FF2B5EF4-FFF2-40B4-BE49-F238E27FC236}">
                <a16:creationId xmlns:a16="http://schemas.microsoft.com/office/drawing/2014/main" id="{9E605062-C27F-4847-BB44-52BDA827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rag-kb">
            <a:extLst xmlns:a="http://schemas.openxmlformats.org/drawingml/2006/main">
              <a:ext uri="{FF2B5EF4-FFF2-40B4-BE49-F238E27FC236}">
                <a16:creationId xmlns:a16="http://schemas.microsoft.com/office/drawing/2014/main" id="{115B4CB0-7A2F-4B86-97BF-6681AE9A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38375"/>
            <a:ext cx="23812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rag-kb-title">
            <a:extLst xmlns:a="http://schemas.openxmlformats.org/drawingml/2006/main">
              <a:ext uri="{FF2B5EF4-FFF2-40B4-BE49-F238E27FC236}">
                <a16:creationId xmlns:a16="http://schemas.microsoft.com/office/drawing/2014/main" id="{7080DE7B-BFE9-417C-A82A-875F009F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527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Knowledge Base</a:t>
            </a:r>
          </a:p>
        </p:txBody>
      </p:sp>
      <p:sp>
        <p:nvSpPr>
          <p:cNvPr id="15" name="rag-kb-body">
            <a:extLst xmlns:a="http://schemas.openxmlformats.org/drawingml/2006/main">
              <a:ext uri="{FF2B5EF4-FFF2-40B4-BE49-F238E27FC236}">
                <a16:creationId xmlns:a16="http://schemas.microsoft.com/office/drawing/2014/main" id="{1242FA3A-B8AE-41DE-90B5-1E0CB2C3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86100"/>
            <a:ext cx="1885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298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B1220"/>
                </a:solidFill>
                <a:latin typeface="Arial"/>
                <a:ea typeface="Arial"/>
                <a:cs typeface="Arial"/>
              </a:rPr>
              <a:t>Hierarchical telecom</a:t>
            </a:r>
          </a:p>
          <a:p xmlns:a="http://schemas.openxmlformats.org/drawingml/2006/main">
            <a:pPr algn="ctr">
              <a:defRPr sz="142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B1220"/>
                </a:solidFill>
                <a:latin typeface="Arial"/>
                <a:ea typeface="Arial"/>
                <a:cs typeface="Arial"/>
              </a:rPr>
              <a:t>articles + sections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B1220"/>
                </a:solidFill>
                <a:latin typeface="Arial"/>
                <a:ea typeface="Arial"/>
                <a:cs typeface="Arial"/>
              </a:rPr>
              <a:t>Used when no resolver</a:t>
            </a:r>
          </a:p>
          <a:p xmlns:a="http://schemas.openxmlformats.org/drawingml/2006/main">
            <a:pPr algn="ctr">
              <a:defRPr sz="142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B1220"/>
                </a:solidFill>
                <a:latin typeface="Arial"/>
                <a:ea typeface="Arial"/>
                <a:cs typeface="Arial"/>
              </a:rPr>
              <a:t>match is found</a:t>
            </a:r>
          </a:p>
        </p:txBody>
      </p:sp>
      <p:sp>
        <p:nvSpPr>
          <p:cNvPr id="16" name="rag-a3">
            <a:extLst xmlns:a="http://schemas.openxmlformats.org/drawingml/2006/main">
              <a:ext uri="{FF2B5EF4-FFF2-40B4-BE49-F238E27FC236}">
                <a16:creationId xmlns:a16="http://schemas.microsoft.com/office/drawing/2014/main" id="{CAE05157-F188-4822-AE6D-6526B7A4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242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rag-llm">
            <a:extLst xmlns:a="http://schemas.openxmlformats.org/drawingml/2006/main">
              <a:ext uri="{FF2B5EF4-FFF2-40B4-BE49-F238E27FC236}">
                <a16:creationId xmlns:a16="http://schemas.microsoft.com/office/drawing/2014/main" id="{BC38E206-6D77-40A9-8E26-29336671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67000"/>
            <a:ext cx="1714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F3D18B"/>
            </a:solidFill>
            <a:prstDash val="solid"/>
          </a:ln>
        </p:spPr>
      </p:sp>
      <p:sp>
        <p:nvSpPr>
          <p:cNvPr id="18" name="rag-llm-text">
            <a:extLst xmlns:a="http://schemas.openxmlformats.org/drawingml/2006/main">
              <a:ext uri="{FF2B5EF4-FFF2-40B4-BE49-F238E27FC236}">
                <a16:creationId xmlns:a16="http://schemas.microsoft.com/office/drawing/2014/main" id="{C5644BFA-014D-480A-A9F6-4F5AE0E5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43225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889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88900"/>
                </a:solidFill>
                <a:latin typeface="Arial"/>
                <a:ea typeface="Arial"/>
                <a:cs typeface="Arial"/>
              </a:rPr>
              <a:t>LLM</a:t>
            </a:r>
          </a:p>
          <a:p xmlns:a="http://schemas.openxmlformats.org/drawingml/2006/main">
            <a:pPr algn="ctr">
              <a:defRPr sz="1875" b="1">
                <a:solidFill>
                  <a:srgbClr val="D889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88900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</p:spTree>
    <p:extLst>
      <p:ext uri="{BB962C8B-B14F-4D97-AF65-F5344CB8AC3E}">
        <p14:creationId xmlns:p14="http://schemas.microsoft.com/office/powerpoint/2010/main" val="18443230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7">
            <a:extLst xmlns:a="http://schemas.openxmlformats.org/drawingml/2006/main">
              <a:ext uri="{FF2B5EF4-FFF2-40B4-BE49-F238E27FC236}">
                <a16:creationId xmlns:a16="http://schemas.microsoft.com/office/drawing/2014/main" id="{296F0BDF-BFD0-4565-BE51-8AFEEABB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06 / CUSTOMER FEEDBACK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6889C540-91A3-485C-8A56-741A0E6A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Yes closes the loop; No creates durable technician knowledge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CC6BCF9A-6C2D-4276-9ABD-3A9699FF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2E3F7CA1-4855-4E48-A021-D5F3E590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261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feedback-start">
            <a:extLst xmlns:a="http://schemas.openxmlformats.org/drawingml/2006/main">
              <a:ext uri="{FF2B5EF4-FFF2-40B4-BE49-F238E27FC236}">
                <a16:creationId xmlns:a16="http://schemas.microsoft.com/office/drawing/2014/main" id="{173C1B13-F1D4-41E2-A627-A9E428BB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622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9E5F3"/>
            </a:solidFill>
            <a:prstDash val="solid"/>
          </a:ln>
        </p:spPr>
      </p:sp>
      <p:sp>
        <p:nvSpPr>
          <p:cNvPr id="6" name="feedback-start-text">
            <a:extLst xmlns:a="http://schemas.openxmlformats.org/drawingml/2006/main">
              <a:ext uri="{FF2B5EF4-FFF2-40B4-BE49-F238E27FC236}">
                <a16:creationId xmlns:a16="http://schemas.microsoft.com/office/drawing/2014/main" id="{B85E3E0B-BDC8-4717-9B36-590A257F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56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AI response</a:t>
            </a:r>
          </a:p>
          <a:p xmlns:a="http://schemas.openxmlformats.org/drawingml/2006/main">
            <a:pPr algn="ctr">
              <a:defRPr sz="172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shown to customer</a:t>
            </a:r>
          </a:p>
        </p:txBody>
      </p:sp>
      <p:sp>
        <p:nvSpPr>
          <p:cNvPr id="7" name="feedback-arrow">
            <a:extLst xmlns:a="http://schemas.openxmlformats.org/drawingml/2006/main">
              <a:ext uri="{FF2B5EF4-FFF2-40B4-BE49-F238E27FC236}">
                <a16:creationId xmlns:a16="http://schemas.microsoft.com/office/drawing/2014/main" id="{70D6139E-DBB5-47D7-BF2C-EAE09058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95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eedback-choice">
            <a:extLst xmlns:a="http://schemas.openxmlformats.org/drawingml/2006/main">
              <a:ext uri="{FF2B5EF4-FFF2-40B4-BE49-F238E27FC236}">
                <a16:creationId xmlns:a16="http://schemas.microsoft.com/office/drawing/2014/main" id="{60CCCE4E-E589-4066-B636-5E26DEA2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28875"/>
            <a:ext cx="2286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feedback-choice-title">
            <a:extLst xmlns:a="http://schemas.openxmlformats.org/drawingml/2006/main">
              <a:ext uri="{FF2B5EF4-FFF2-40B4-BE49-F238E27FC236}">
                <a16:creationId xmlns:a16="http://schemas.microsoft.com/office/drawing/2014/main" id="{19D32CDC-3323-47CF-AF15-028FC423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622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Did this solve it?</a:t>
            </a:r>
          </a:p>
        </p:txBody>
      </p:sp>
      <p:sp>
        <p:nvSpPr>
          <p:cNvPr id="10" name="feedback-choice-body">
            <a:extLst xmlns:a="http://schemas.openxmlformats.org/drawingml/2006/main">
              <a:ext uri="{FF2B5EF4-FFF2-40B4-BE49-F238E27FC236}">
                <a16:creationId xmlns:a16="http://schemas.microsoft.com/office/drawing/2014/main" id="{E8873697-6E78-4BD7-B13A-BD451C4A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86125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445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173"/>
                </a:solidFill>
                <a:latin typeface="Arial"/>
                <a:ea typeface="Arial"/>
                <a:cs typeface="Arial"/>
              </a:rPr>
              <a:t>YES  →  Thank you + discard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173"/>
                </a:solidFill>
                <a:latin typeface="Arial"/>
                <a:ea typeface="Arial"/>
                <a:cs typeface="Arial"/>
              </a:rPr>
              <a:t>NO  →  capture feedback</a:t>
            </a:r>
          </a:p>
        </p:txBody>
      </p:sp>
      <p:sp>
        <p:nvSpPr>
          <p:cNvPr id="11" name="feedback-arrow2">
            <a:extLst xmlns:a="http://schemas.openxmlformats.org/drawingml/2006/main">
              <a:ext uri="{FF2B5EF4-FFF2-40B4-BE49-F238E27FC236}">
                <a16:creationId xmlns:a16="http://schemas.microsoft.com/office/drawing/2014/main" id="{ACD2FE62-741E-4E01-A382-667996D7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95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feedback-admin">
            <a:extLst xmlns:a="http://schemas.openxmlformats.org/drawingml/2006/main">
              <a:ext uri="{FF2B5EF4-FFF2-40B4-BE49-F238E27FC236}">
                <a16:creationId xmlns:a16="http://schemas.microsoft.com/office/drawing/2014/main" id="{0375F235-F636-4A91-91B6-FB527898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28875"/>
            <a:ext cx="2286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F3D18B"/>
            </a:solidFill>
            <a:prstDash val="solid"/>
          </a:ln>
        </p:spPr>
      </p:sp>
      <p:sp>
        <p:nvSpPr>
          <p:cNvPr id="13" name="feedback-admin-title">
            <a:extLst xmlns:a="http://schemas.openxmlformats.org/drawingml/2006/main">
              <a:ext uri="{FF2B5EF4-FFF2-40B4-BE49-F238E27FC236}">
                <a16:creationId xmlns:a16="http://schemas.microsoft.com/office/drawing/2014/main" id="{70BA0E89-4009-49C7-9996-63C7A808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527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889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88900"/>
                </a:solidFill>
                <a:latin typeface="Arial"/>
                <a:ea typeface="Arial"/>
                <a:cs typeface="Arial"/>
              </a:rPr>
              <a:t>Admin review</a:t>
            </a:r>
          </a:p>
        </p:txBody>
      </p:sp>
      <p:sp>
        <p:nvSpPr>
          <p:cNvPr id="14" name="feedback-admin-body">
            <a:extLst xmlns:a="http://schemas.openxmlformats.org/drawingml/2006/main">
              <a:ext uri="{FF2B5EF4-FFF2-40B4-BE49-F238E27FC236}">
                <a16:creationId xmlns:a16="http://schemas.microsoft.com/office/drawing/2014/main" id="{8A902C52-1ED5-49E6-B683-3C84B5B5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86125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8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B1220"/>
                </a:solidFill>
                <a:latin typeface="Arial"/>
                <a:ea typeface="Arial"/>
                <a:cs typeface="Arial"/>
              </a:rPr>
              <a:t>Complaint</a:t>
            </a:r>
          </a:p>
          <a:p xmlns:a="http://schemas.openxmlformats.org/drawingml/2006/main">
            <a:pPr algn="ctr">
              <a:defRPr sz="142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B1220"/>
                </a:solidFill>
                <a:latin typeface="Arial"/>
                <a:ea typeface="Arial"/>
                <a:cs typeface="Arial"/>
              </a:rPr>
              <a:t>AI response</a:t>
            </a:r>
          </a:p>
          <a:p xmlns:a="http://schemas.openxmlformats.org/drawingml/2006/main">
            <a:pPr algn="ctr">
              <a:defRPr sz="142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B1220"/>
                </a:solidFill>
                <a:latin typeface="Arial"/>
                <a:ea typeface="Arial"/>
                <a:cs typeface="Arial"/>
              </a:rPr>
              <a:t>Customer feedback</a:t>
            </a:r>
          </a:p>
        </p:txBody>
      </p:sp>
      <p:sp>
        <p:nvSpPr>
          <p:cNvPr id="15" name="feedback-arrow3">
            <a:extLst xmlns:a="http://schemas.openxmlformats.org/drawingml/2006/main">
              <a:ext uri="{FF2B5EF4-FFF2-40B4-BE49-F238E27FC236}">
                <a16:creationId xmlns:a16="http://schemas.microsoft.com/office/drawing/2014/main" id="{4C97F5F0-AEF3-40B7-8236-F40FDCA8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95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feedback-resolve">
            <a:extLst xmlns:a="http://schemas.openxmlformats.org/drawingml/2006/main">
              <a:ext uri="{FF2B5EF4-FFF2-40B4-BE49-F238E27FC236}">
                <a16:creationId xmlns:a16="http://schemas.microsoft.com/office/drawing/2014/main" id="{3F02A23C-0F50-4E50-9E16-F28A797D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62250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A8DEC4"/>
            </a:solidFill>
            <a:prstDash val="solid"/>
          </a:ln>
        </p:spPr>
      </p:sp>
      <p:sp>
        <p:nvSpPr>
          <p:cNvPr id="17" name="feedback-resolve-text">
            <a:extLst xmlns:a="http://schemas.openxmlformats.org/drawingml/2006/main">
              <a:ext uri="{FF2B5EF4-FFF2-40B4-BE49-F238E27FC236}">
                <a16:creationId xmlns:a16="http://schemas.microsoft.com/office/drawing/2014/main" id="{ABA5E7C4-6C08-4789-ADF4-70602687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9900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5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A36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A36A"/>
                </a:solidFill>
                <a:latin typeface="Arial"/>
                <a:ea typeface="Arial"/>
                <a:cs typeface="Arial"/>
              </a:rPr>
              <a:t>Technician response</a:t>
            </a:r>
          </a:p>
          <a:p xmlns:a="http://schemas.openxmlformats.org/drawingml/2006/main">
            <a:pPr algn="ctr">
              <a:defRPr sz="1575" b="1">
                <a:solidFill>
                  <a:srgbClr val="16A36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A36A"/>
                </a:solidFill>
                <a:latin typeface="Arial"/>
                <a:ea typeface="Arial"/>
                <a:cs typeface="Arial"/>
              </a:rPr>
              <a:t>→ resolver_base</a:t>
            </a:r>
          </a:p>
        </p:txBody>
      </p:sp>
    </p:spTree>
    <p:extLst>
      <p:ext uri="{BB962C8B-B14F-4D97-AF65-F5344CB8AC3E}">
        <p14:creationId xmlns:p14="http://schemas.microsoft.com/office/powerpoint/2010/main" val="4102620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8">
            <a:extLst xmlns:a="http://schemas.openxmlformats.org/drawingml/2006/main">
              <a:ext uri="{FF2B5EF4-FFF2-40B4-BE49-F238E27FC236}">
                <a16:creationId xmlns:a16="http://schemas.microsoft.com/office/drawing/2014/main" id="{ACD46E7D-256F-44C9-AD76-DA32BA03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07 / HUMAN ESCALATION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9F35E17D-C749-4F41-A866-E9A8BFA5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893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Escalation gives the technician the context needed to respond by email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709799DB-FEA7-47F7-A7C0-4FF1A862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3EB02693-871C-4A33-A074-445408BA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261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esc-copy">
            <a:extLst xmlns:a="http://schemas.openxmlformats.org/drawingml/2006/main">
              <a:ext uri="{FF2B5EF4-FFF2-40B4-BE49-F238E27FC236}">
                <a16:creationId xmlns:a16="http://schemas.microsoft.com/office/drawing/2014/main" id="{4F9D8B55-9131-4F2F-AF57-08316A4C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12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26173"/>
                </a:solidFill>
                <a:latin typeface="Arial"/>
                <a:ea typeface="Arial"/>
                <a:cs typeface="Arial"/>
              </a:rPr>
              <a:t>When policy or the LLM marks a complaint for escalation, the customer sees a clear handoff message instead of an uncertain automated answer.</a:t>
            </a:r>
          </a:p>
        </p:txBody>
      </p:sp>
      <p:sp>
        <p:nvSpPr>
          <p:cNvPr id="6" name="esc-customer">
            <a:extLst xmlns:a="http://schemas.openxmlformats.org/drawingml/2006/main">
              <a:ext uri="{FF2B5EF4-FFF2-40B4-BE49-F238E27FC236}">
                <a16:creationId xmlns:a16="http://schemas.microsoft.com/office/drawing/2014/main" id="{8911F460-1A6E-4D07-BFC1-346A0ADE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9E5F3"/>
            </a:solidFill>
            <a:prstDash val="solid"/>
          </a:ln>
        </p:spPr>
      </p:sp>
      <p:sp>
        <p:nvSpPr>
          <p:cNvPr id="7" name="esc-customer-title">
            <a:extLst xmlns:a="http://schemas.openxmlformats.org/drawingml/2006/main">
              <a:ext uri="{FF2B5EF4-FFF2-40B4-BE49-F238E27FC236}">
                <a16:creationId xmlns:a16="http://schemas.microsoft.com/office/drawing/2014/main" id="{3CF2FA8E-DF51-41F8-ACA3-2DBC5C23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8" name="esc-customer-body">
            <a:extLst xmlns:a="http://schemas.openxmlformats.org/drawingml/2006/main">
              <a:ext uri="{FF2B5EF4-FFF2-40B4-BE49-F238E27FC236}">
                <a16:creationId xmlns:a16="http://schemas.microsoft.com/office/drawing/2014/main" id="{E369D8F8-0271-405D-A9E7-528BC424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52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B1220"/>
                </a:solidFill>
                <a:latin typeface="Arial"/>
                <a:ea typeface="Arial"/>
                <a:cs typeface="Arial"/>
              </a:rPr>
              <a:t>Receives:</a:t>
            </a:r>
          </a:p>
          <a:p xmlns:a="http://schemas.openxmlformats.org/drawingml/2006/main">
            <a:pPr algn="ctr">
              <a:defRPr sz="135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B1220"/>
                </a:solidFill>
                <a:latin typeface="Arial"/>
                <a:ea typeface="Arial"/>
                <a:cs typeface="Arial"/>
              </a:rPr>
              <a:t>“Your response has been forwarded</a:t>
            </a:r>
          </a:p>
          <a:p xmlns:a="http://schemas.openxmlformats.org/drawingml/2006/main">
            <a:pPr algn="ctr">
              <a:defRPr sz="135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B1220"/>
                </a:solidFill>
                <a:latin typeface="Arial"/>
                <a:ea typeface="Arial"/>
                <a:cs typeface="Arial"/>
              </a:rPr>
              <a:t>to our technician. They will</a:t>
            </a:r>
          </a:p>
          <a:p xmlns:a="http://schemas.openxmlformats.org/drawingml/2006/main">
            <a:pPr algn="ctr">
              <a:defRPr sz="135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B1220"/>
                </a:solidFill>
                <a:latin typeface="Arial"/>
                <a:ea typeface="Arial"/>
                <a:cs typeface="Arial"/>
              </a:rPr>
              <a:t>contact you soon.”</a:t>
            </a:r>
          </a:p>
        </p:txBody>
      </p:sp>
      <p:sp>
        <p:nvSpPr>
          <p:cNvPr id="9" name="esc-a1">
            <a:extLst xmlns:a="http://schemas.openxmlformats.org/drawingml/2006/main">
              <a:ext uri="{FF2B5EF4-FFF2-40B4-BE49-F238E27FC236}">
                <a16:creationId xmlns:a16="http://schemas.microsoft.com/office/drawing/2014/main" id="{525EC917-C742-4FB2-8EBD-FFCE6773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33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esc-admin">
            <a:extLst xmlns:a="http://schemas.openxmlformats.org/drawingml/2006/main">
              <a:ext uri="{FF2B5EF4-FFF2-40B4-BE49-F238E27FC236}">
                <a16:creationId xmlns:a16="http://schemas.microsoft.com/office/drawing/2014/main" id="{BEBC654B-B677-496B-BB5D-1C27CF4F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003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F3D18B"/>
            </a:solidFill>
            <a:prstDash val="solid"/>
          </a:ln>
        </p:spPr>
      </p:sp>
      <p:sp>
        <p:nvSpPr>
          <p:cNvPr id="11" name="esc-admin-title">
            <a:extLst xmlns:a="http://schemas.openxmlformats.org/drawingml/2006/main">
              <a:ext uri="{FF2B5EF4-FFF2-40B4-BE49-F238E27FC236}">
                <a16:creationId xmlns:a16="http://schemas.microsoft.com/office/drawing/2014/main" id="{79F7BB78-195A-48C6-88E0-58790C7C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051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889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88900"/>
                </a:solidFill>
                <a:latin typeface="Arial"/>
                <a:ea typeface="Arial"/>
                <a:cs typeface="Arial"/>
              </a:rPr>
              <a:t>Technician workspace</a:t>
            </a:r>
          </a:p>
        </p:txBody>
      </p:sp>
      <p:sp>
        <p:nvSpPr>
          <p:cNvPr id="12" name="esc-admin-body">
            <a:extLst xmlns:a="http://schemas.openxmlformats.org/drawingml/2006/main">
              <a:ext uri="{FF2B5EF4-FFF2-40B4-BE49-F238E27FC236}">
                <a16:creationId xmlns:a16="http://schemas.microsoft.com/office/drawing/2014/main" id="{1A5965E6-AF5A-4635-9D26-F2710A3D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14700"/>
            <a:ext cx="2571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592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B1220"/>
                </a:solidFill>
                <a:latin typeface="Arial"/>
                <a:ea typeface="Arial"/>
                <a:cs typeface="Arial"/>
              </a:rPr>
              <a:t>Sees complaint + escalation reason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B1220"/>
                </a:solidFill>
                <a:latin typeface="Arial"/>
                <a:ea typeface="Arial"/>
                <a:cs typeface="Arial"/>
              </a:rPr>
              <a:t>Writes a customer-support message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B1220"/>
                </a:solidFill>
                <a:latin typeface="Arial"/>
                <a:ea typeface="Arial"/>
                <a:cs typeface="Arial"/>
              </a:rPr>
              <a:t>Submits once</a:t>
            </a:r>
          </a:p>
        </p:txBody>
      </p:sp>
      <p:sp>
        <p:nvSpPr>
          <p:cNvPr id="13" name="esc-a2">
            <a:extLst xmlns:a="http://schemas.openxmlformats.org/drawingml/2006/main">
              <a:ext uri="{FF2B5EF4-FFF2-40B4-BE49-F238E27FC236}">
                <a16:creationId xmlns:a16="http://schemas.microsoft.com/office/drawing/2014/main" id="{F42BA38B-EC5A-4523-9747-02610E32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33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esc-mail">
            <a:extLst xmlns:a="http://schemas.openxmlformats.org/drawingml/2006/main">
              <a:ext uri="{FF2B5EF4-FFF2-40B4-BE49-F238E27FC236}">
                <a16:creationId xmlns:a16="http://schemas.microsoft.com/office/drawing/2014/main" id="{A2958C82-DB55-4A8B-9EE5-2D713735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860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A8DEC4"/>
            </a:solidFill>
            <a:prstDash val="solid"/>
          </a:ln>
        </p:spPr>
      </p:sp>
      <p:sp>
        <p:nvSpPr>
          <p:cNvPr id="15" name="esc-mail-title">
            <a:extLst xmlns:a="http://schemas.openxmlformats.org/drawingml/2006/main">
              <a:ext uri="{FF2B5EF4-FFF2-40B4-BE49-F238E27FC236}">
                <a16:creationId xmlns:a16="http://schemas.microsoft.com/office/drawing/2014/main" id="{18D14B05-9221-4F6C-953C-F327CDE5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0375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A36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A36A"/>
                </a:solidFill>
                <a:latin typeface="Arial"/>
                <a:ea typeface="Arial"/>
                <a:cs typeface="Arial"/>
              </a:rPr>
              <a:t>Support email</a:t>
            </a:r>
          </a:p>
        </p:txBody>
      </p:sp>
      <p:sp>
        <p:nvSpPr>
          <p:cNvPr id="16" name="esc-mail-body">
            <a:extLst xmlns:a="http://schemas.openxmlformats.org/drawingml/2006/main">
              <a:ext uri="{FF2B5EF4-FFF2-40B4-BE49-F238E27FC236}">
                <a16:creationId xmlns:a16="http://schemas.microsoft.com/office/drawing/2014/main" id="{DF6CFD46-E1DD-48AF-B556-DF40E2BC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24250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333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B1220"/>
                </a:solidFill>
                <a:latin typeface="Arial"/>
                <a:ea typeface="Arial"/>
                <a:cs typeface="Arial"/>
              </a:rPr>
              <a:t>Generic update sent to</a:t>
            </a:r>
          </a:p>
          <a:p xmlns:a="http://schemas.openxmlformats.org/drawingml/2006/main">
            <a:pPr algn="ctr">
              <a:defRPr sz="150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customer’s address</a:t>
            </a:r>
          </a:p>
          <a:p xmlns:a="http://schemas.openxmlformats.org/drawingml/2006/main">
            <a:pPr algn="ctr">
              <a:defRPr sz="150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B1220"/>
                </a:solidFill>
                <a:latin typeface="Arial"/>
                <a:ea typeface="Arial"/>
                <a:cs typeface="Arial"/>
              </a:rPr>
              <a:t>with the support message</a:t>
            </a:r>
          </a:p>
        </p:txBody>
      </p:sp>
    </p:spTree>
    <p:extLst>
      <p:ext uri="{BB962C8B-B14F-4D97-AF65-F5344CB8AC3E}">
        <p14:creationId xmlns:p14="http://schemas.microsoft.com/office/powerpoint/2010/main" val="18911900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9">
            <a:extLst xmlns:a="http://schemas.openxmlformats.org/drawingml/2006/main">
              <a:ext uri="{FF2B5EF4-FFF2-40B4-BE49-F238E27FC236}">
                <a16:creationId xmlns:a16="http://schemas.microsoft.com/office/drawing/2014/main" id="{68DD7507-300B-4566-B50C-7EEEEE01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08 / OPERATIONS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B2C37AA8-160C-4010-89E0-B87AA872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admin view is focused on action, not model noise</a:t>
            </a:r>
          </a:p>
        </p:txBody>
      </p:sp>
      <p:sp>
        <p:nvSpPr>
          <p:cNvPr id="3" name="rule-9">
            <a:extLst xmlns:a="http://schemas.openxmlformats.org/drawingml/2006/main">
              <a:ext uri="{FF2B5EF4-FFF2-40B4-BE49-F238E27FC236}">
                <a16:creationId xmlns:a16="http://schemas.microsoft.com/office/drawing/2014/main" id="{4C286ED5-15E5-40F5-AE4A-24EFDA56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footer-9">
            <a:extLst xmlns:a="http://schemas.openxmlformats.org/drawingml/2006/main">
              <a:ext uri="{FF2B5EF4-FFF2-40B4-BE49-F238E27FC236}">
                <a16:creationId xmlns:a16="http://schemas.microsoft.com/office/drawing/2014/main" id="{154D3C7F-CD98-4ED3-A2A0-0646FBE3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261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admin-copy">
            <a:extLst xmlns:a="http://schemas.openxmlformats.org/drawingml/2006/main">
              <a:ext uri="{FF2B5EF4-FFF2-40B4-BE49-F238E27FC236}">
                <a16:creationId xmlns:a16="http://schemas.microsoft.com/office/drawing/2014/main" id="{76A52BB8-D736-4BD5-AD09-D54FA395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402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26173"/>
                </a:solidFill>
                <a:latin typeface="Arial"/>
                <a:ea typeface="Arial"/>
                <a:cs typeface="Arial"/>
              </a:rPr>
              <a:t>The dashboard is organized around the two human workflows: escalated complaints and negative feedback awaiting review.</a:t>
            </a:r>
          </a:p>
        </p:txBody>
      </p:sp>
      <p:sp>
        <p:nvSpPr>
          <p:cNvPr id="6" name="admin-left">
            <a:extLst xmlns:a="http://schemas.openxmlformats.org/drawingml/2006/main">
              <a:ext uri="{FF2B5EF4-FFF2-40B4-BE49-F238E27FC236}">
                <a16:creationId xmlns:a16="http://schemas.microsoft.com/office/drawing/2014/main" id="{3D76DAED-6E41-4FA8-BC30-5E353ED2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953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admin-left-title">
            <a:extLst xmlns:a="http://schemas.openxmlformats.org/drawingml/2006/main">
              <a:ext uri="{FF2B5EF4-FFF2-40B4-BE49-F238E27FC236}">
                <a16:creationId xmlns:a16="http://schemas.microsoft.com/office/drawing/2014/main" id="{1073C224-D8A7-4C3D-9EE2-6C0FB3DB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485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485F"/>
                </a:solidFill>
                <a:latin typeface="Arial"/>
                <a:ea typeface="Arial"/>
                <a:cs typeface="Arial"/>
              </a:rPr>
              <a:t>Escalated Complaints</a:t>
            </a:r>
          </a:p>
        </p:txBody>
      </p:sp>
      <p:sp>
        <p:nvSpPr>
          <p:cNvPr id="8" name="admin-left-body">
            <a:extLst xmlns:a="http://schemas.openxmlformats.org/drawingml/2006/main">
              <a:ext uri="{FF2B5EF4-FFF2-40B4-BE49-F238E27FC236}">
                <a16:creationId xmlns:a16="http://schemas.microsoft.com/office/drawing/2014/main" id="{61BC07C7-A1A6-4E93-B84C-FF1D926F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Search and filter open cases</a:t>
            </a:r>
          </a:p>
          <a:p xmlns:a="http://schemas.openxmlformats.org/drawingml/2006/main"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See complaint and escalation reason</a:t>
            </a:r>
          </a:p>
          <a:p xmlns:a="http://schemas.openxmlformats.org/drawingml/2006/main"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Enter a support message</a:t>
            </a:r>
          </a:p>
          <a:p xmlns:a="http://schemas.openxmlformats.org/drawingml/2006/main"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Send customer email</a:t>
            </a:r>
          </a:p>
          <a:p xmlns:a="http://schemas.openxmlformats.org/drawingml/2006/main"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Prevent duplicate submissions</a:t>
            </a:r>
          </a:p>
        </p:txBody>
      </p:sp>
      <p:sp>
        <p:nvSpPr>
          <p:cNvPr id="9" name="admin-right">
            <a:extLst xmlns:a="http://schemas.openxmlformats.org/drawingml/2006/main">
              <a:ext uri="{FF2B5EF4-FFF2-40B4-BE49-F238E27FC236}">
                <a16:creationId xmlns:a16="http://schemas.microsoft.com/office/drawing/2014/main" id="{44D8E050-C518-422C-9F14-63666FE7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953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ECFF"/>
          </a:solidFill>
          <a:ln xmlns:a="http://schemas.openxmlformats.org/drawingml/2006/main" w="9525">
            <a:solidFill>
              <a:srgbClr val="BBA3E8"/>
            </a:solidFill>
            <a:prstDash val="solid"/>
          </a:ln>
        </p:spPr>
      </p:sp>
      <p:sp>
        <p:nvSpPr>
          <p:cNvPr id="10" name="admin-right-title">
            <a:extLst xmlns:a="http://schemas.openxmlformats.org/drawingml/2006/main">
              <a:ext uri="{FF2B5EF4-FFF2-40B4-BE49-F238E27FC236}">
                <a16:creationId xmlns:a16="http://schemas.microsoft.com/office/drawing/2014/main" id="{864F6202-EF19-4906-A207-D42220E0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003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746C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746C4"/>
                </a:solidFill>
                <a:latin typeface="Arial"/>
                <a:ea typeface="Arial"/>
                <a:cs typeface="Arial"/>
              </a:rPr>
              <a:t>Negative Feedback</a:t>
            </a:r>
          </a:p>
        </p:txBody>
      </p:sp>
      <p:sp>
        <p:nvSpPr>
          <p:cNvPr id="11" name="admin-right-body">
            <a:extLst xmlns:a="http://schemas.openxmlformats.org/drawingml/2006/main">
              <a:ext uri="{FF2B5EF4-FFF2-40B4-BE49-F238E27FC236}">
                <a16:creationId xmlns:a16="http://schemas.microsoft.com/office/drawing/2014/main" id="{795E3C80-65BA-4917-8940-11399905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2900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Review the original complaint</a:t>
            </a:r>
          </a:p>
          <a:p xmlns:a="http://schemas.openxmlformats.org/drawingml/2006/main"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Compare AI response with feedback</a:t>
            </a:r>
          </a:p>
          <a:p xmlns:a="http://schemas.openxmlformats.org/drawingml/2006/main"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Enter approved resolution</a:t>
            </a:r>
          </a:p>
          <a:p xmlns:a="http://schemas.openxmlformats.org/drawingml/2006/main"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Save to resolver_base</a:t>
            </a:r>
          </a:p>
          <a:p xmlns:a="http://schemas.openxmlformats.org/drawingml/2006/main"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Email the customer</a:t>
            </a:r>
          </a:p>
        </p:txBody>
      </p:sp>
    </p:spTree>
    <p:extLst>
      <p:ext uri="{BB962C8B-B14F-4D97-AF65-F5344CB8AC3E}">
        <p14:creationId xmlns:p14="http://schemas.microsoft.com/office/powerpoint/2010/main" val="5517953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10">
            <a:extLst xmlns:a="http://schemas.openxmlformats.org/drawingml/2006/main">
              <a:ext uri="{FF2B5EF4-FFF2-40B4-BE49-F238E27FC236}">
                <a16:creationId xmlns:a16="http://schemas.microsoft.com/office/drawing/2014/main" id="{A7C0A280-1C51-4416-B476-A35F6EEF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09 / DEPLOYMENT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55298E55-2D55-4614-9064-685A6C72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For AWS, keep the workflow durable as traffic grows</a:t>
            </a:r>
          </a:p>
        </p:txBody>
      </p:sp>
      <p:sp>
        <p:nvSpPr>
          <p:cNvPr id="3" name="rule-10">
            <a:extLst xmlns:a="http://schemas.openxmlformats.org/drawingml/2006/main">
              <a:ext uri="{FF2B5EF4-FFF2-40B4-BE49-F238E27FC236}">
                <a16:creationId xmlns:a16="http://schemas.microsoft.com/office/drawing/2014/main" id="{6DD46487-48C5-4E20-8987-1E5A034A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footer-10">
            <a:extLst xmlns:a="http://schemas.openxmlformats.org/drawingml/2006/main">
              <a:ext uri="{FF2B5EF4-FFF2-40B4-BE49-F238E27FC236}">
                <a16:creationId xmlns:a16="http://schemas.microsoft.com/office/drawing/2014/main" id="{25AA6E60-B30D-4E39-B22F-72B61198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261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aws-copy">
            <a:extLst xmlns:a="http://schemas.openxmlformats.org/drawingml/2006/main">
              <a:ext uri="{FF2B5EF4-FFF2-40B4-BE49-F238E27FC236}">
                <a16:creationId xmlns:a16="http://schemas.microsoft.com/office/drawing/2014/main" id="{0D2D6670-0F5D-4871-8976-15C929C6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12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26173"/>
                </a:solidFill>
                <a:latin typeface="Arial"/>
                <a:ea typeface="Arial"/>
                <a:cs typeface="Arial"/>
              </a:rPr>
              <a:t>The current in-process queue is suitable for one running task. A multi-instance deployment should externalize queue state and request status.</a:t>
            </a:r>
          </a:p>
        </p:txBody>
      </p:sp>
      <p:sp>
        <p:nvSpPr>
          <p:cNvPr id="6" name="aws-arrow-0">
            <a:extLst xmlns:a="http://schemas.openxmlformats.org/drawingml/2006/main">
              <a:ext uri="{FF2B5EF4-FFF2-40B4-BE49-F238E27FC236}">
                <a16:creationId xmlns:a16="http://schemas.microsoft.com/office/drawing/2014/main" id="{D4F80468-7801-4E30-98DE-CA27921C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956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aws-arrow-1">
            <a:extLst xmlns:a="http://schemas.openxmlformats.org/drawingml/2006/main">
              <a:ext uri="{FF2B5EF4-FFF2-40B4-BE49-F238E27FC236}">
                <a16:creationId xmlns:a16="http://schemas.microsoft.com/office/drawing/2014/main" id="{C5CB29A7-BFEA-4433-B0CE-0CC1BB5C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956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aws-arrow-2">
            <a:extLst xmlns:a="http://schemas.openxmlformats.org/drawingml/2006/main">
              <a:ext uri="{FF2B5EF4-FFF2-40B4-BE49-F238E27FC236}">
                <a16:creationId xmlns:a16="http://schemas.microsoft.com/office/drawing/2014/main" id="{F692375E-57DA-42C0-9711-B179F0F0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956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aws-Frontend">
            <a:extLst xmlns:a="http://schemas.openxmlformats.org/drawingml/2006/main">
              <a:ext uri="{FF2B5EF4-FFF2-40B4-BE49-F238E27FC236}">
                <a16:creationId xmlns:a16="http://schemas.microsoft.com/office/drawing/2014/main" id="{F036F5B1-9711-4247-8172-BF8BAE2B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9240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1677D2"/>
            </a:solidFill>
            <a:prstDash val="solid"/>
          </a:ln>
        </p:spPr>
      </p:sp>
      <p:sp>
        <p:nvSpPr>
          <p:cNvPr id="10" name="aws-title-Frontend">
            <a:extLst xmlns:a="http://schemas.openxmlformats.org/drawingml/2006/main">
              <a:ext uri="{FF2B5EF4-FFF2-40B4-BE49-F238E27FC236}">
                <a16:creationId xmlns:a16="http://schemas.microsoft.com/office/drawing/2014/main" id="{4083D6D8-E92B-4209-BF4C-456446FD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1" name="aws-body-Frontend">
            <a:extLst xmlns:a="http://schemas.openxmlformats.org/drawingml/2006/main">
              <a:ext uri="{FF2B5EF4-FFF2-40B4-BE49-F238E27FC236}">
                <a16:creationId xmlns:a16="http://schemas.microsoft.com/office/drawing/2014/main" id="{3AA50E2D-F5EB-4291-AD1B-415079E8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96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B1220"/>
                </a:solidFill>
                <a:latin typeface="Arial"/>
                <a:ea typeface="Arial"/>
                <a:cs typeface="Arial"/>
              </a:rPr>
              <a:t>Static hosting</a:t>
            </a:r>
          </a:p>
          <a:p xmlns:a="http://schemas.openxmlformats.org/drawingml/2006/main">
            <a:pPr algn="ctr">
              <a:defRPr sz="142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B1220"/>
                </a:solidFill>
                <a:latin typeface="Arial"/>
                <a:ea typeface="Arial"/>
                <a:cs typeface="Arial"/>
              </a:rPr>
              <a:t>S3 / CloudFront</a:t>
            </a:r>
          </a:p>
        </p:txBody>
      </p:sp>
      <p:sp>
        <p:nvSpPr>
          <p:cNvPr id="12" name="aws-API">
            <a:extLst xmlns:a="http://schemas.openxmlformats.org/drawingml/2006/main">
              <a:ext uri="{FF2B5EF4-FFF2-40B4-BE49-F238E27FC236}">
                <a16:creationId xmlns:a16="http://schemas.microsoft.com/office/drawing/2014/main" id="{28106173-0187-4E60-BE5A-5F22D121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19240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13" name="aws-title-API">
            <a:extLst xmlns:a="http://schemas.openxmlformats.org/drawingml/2006/main">
              <a:ext uri="{FF2B5EF4-FFF2-40B4-BE49-F238E27FC236}">
                <a16:creationId xmlns:a16="http://schemas.microsoft.com/office/drawing/2014/main" id="{50217EE3-7072-436E-A92E-C46D95DC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4" name="aws-body-API">
            <a:extLst xmlns:a="http://schemas.openxmlformats.org/drawingml/2006/main">
              <a:ext uri="{FF2B5EF4-FFF2-40B4-BE49-F238E27FC236}">
                <a16:creationId xmlns:a16="http://schemas.microsoft.com/office/drawing/2014/main" id="{A6CC23F7-B0E2-4868-9F68-6F1FCCA6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432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96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B1220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pPr algn="ctr">
              <a:defRPr sz="142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B1220"/>
                </a:solidFill>
                <a:latin typeface="Arial"/>
                <a:ea typeface="Arial"/>
                <a:cs typeface="Arial"/>
              </a:rPr>
              <a:t>ECS / App Runner</a:t>
            </a:r>
          </a:p>
        </p:txBody>
      </p:sp>
      <p:sp>
        <p:nvSpPr>
          <p:cNvPr id="15" name="aws-Queue">
            <a:extLst xmlns:a="http://schemas.openxmlformats.org/drawingml/2006/main">
              <a:ext uri="{FF2B5EF4-FFF2-40B4-BE49-F238E27FC236}">
                <a16:creationId xmlns:a16="http://schemas.microsoft.com/office/drawing/2014/main" id="{E8D2D73D-9FE9-4FED-B1AD-576EA2DD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81250"/>
            <a:ext cx="19240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D88900"/>
            </a:solidFill>
            <a:prstDash val="solid"/>
          </a:ln>
        </p:spPr>
      </p:sp>
      <p:sp>
        <p:nvSpPr>
          <p:cNvPr id="16" name="aws-title-Queue">
            <a:extLst xmlns:a="http://schemas.openxmlformats.org/drawingml/2006/main">
              <a:ext uri="{FF2B5EF4-FFF2-40B4-BE49-F238E27FC236}">
                <a16:creationId xmlns:a16="http://schemas.microsoft.com/office/drawing/2014/main" id="{05018C15-4CAF-4100-8C94-0E4FD769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28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889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88900"/>
                </a:solidFill>
                <a:latin typeface="Arial"/>
                <a:ea typeface="Arial"/>
                <a:cs typeface="Arial"/>
              </a:rPr>
              <a:t>Queue</a:t>
            </a:r>
          </a:p>
        </p:txBody>
      </p:sp>
      <p:sp>
        <p:nvSpPr>
          <p:cNvPr id="17" name="aws-body-Queue">
            <a:extLst xmlns:a="http://schemas.openxmlformats.org/drawingml/2006/main">
              <a:ext uri="{FF2B5EF4-FFF2-40B4-BE49-F238E27FC236}">
                <a16:creationId xmlns:a16="http://schemas.microsoft.com/office/drawing/2014/main" id="{BF81A03D-2291-4468-A192-2E0119E7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432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96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B1220"/>
                </a:solidFill>
                <a:latin typeface="Arial"/>
                <a:ea typeface="Arial"/>
                <a:cs typeface="Arial"/>
              </a:rPr>
              <a:t>SQS</a:t>
            </a:r>
          </a:p>
          <a:p xmlns:a="http://schemas.openxmlformats.org/drawingml/2006/main">
            <a:pPr algn="ctr">
              <a:defRPr sz="142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B1220"/>
                </a:solidFill>
                <a:latin typeface="Arial"/>
                <a:ea typeface="Arial"/>
                <a:cs typeface="Arial"/>
              </a:rPr>
              <a:t>priority metadata</a:t>
            </a:r>
          </a:p>
        </p:txBody>
      </p:sp>
      <p:sp>
        <p:nvSpPr>
          <p:cNvPr id="18" name="aws-Storage">
            <a:extLst xmlns:a="http://schemas.openxmlformats.org/drawingml/2006/main">
              <a:ext uri="{FF2B5EF4-FFF2-40B4-BE49-F238E27FC236}">
                <a16:creationId xmlns:a16="http://schemas.microsoft.com/office/drawing/2014/main" id="{FC1D3CF5-46F4-4B6A-B915-145FE5E4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19240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2ECFF"/>
          </a:solidFill>
          <a:ln xmlns:a="http://schemas.openxmlformats.org/drawingml/2006/main" w="9525">
            <a:solidFill>
              <a:srgbClr val="7746C4"/>
            </a:solidFill>
            <a:prstDash val="solid"/>
          </a:ln>
        </p:spPr>
      </p:sp>
      <p:sp>
        <p:nvSpPr>
          <p:cNvPr id="19" name="aws-title-Storage">
            <a:extLst xmlns:a="http://schemas.openxmlformats.org/drawingml/2006/main">
              <a:ext uri="{FF2B5EF4-FFF2-40B4-BE49-F238E27FC236}">
                <a16:creationId xmlns:a16="http://schemas.microsoft.com/office/drawing/2014/main" id="{1E423A79-2253-47D8-BF8C-6856A8FA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746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746C4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20" name="aws-body-Storage">
            <a:extLst xmlns:a="http://schemas.openxmlformats.org/drawingml/2006/main">
              <a:ext uri="{FF2B5EF4-FFF2-40B4-BE49-F238E27FC236}">
                <a16:creationId xmlns:a16="http://schemas.microsoft.com/office/drawing/2014/main" id="{7EBC4373-6442-4381-9505-8079C18B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96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B1220"/>
                </a:solidFill>
                <a:latin typeface="Arial"/>
                <a:ea typeface="Arial"/>
                <a:cs typeface="Arial"/>
              </a:rPr>
              <a:t>DynamoDB</a:t>
            </a:r>
          </a:p>
          <a:p xmlns:a="http://schemas.openxmlformats.org/drawingml/2006/main">
            <a:pPr algn="ctr">
              <a:defRPr sz="142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B1220"/>
                </a:solidFill>
                <a:latin typeface="Arial"/>
                <a:ea typeface="Arial"/>
                <a:cs typeface="Arial"/>
              </a:rPr>
              <a:t>Chroma / S3</a:t>
            </a:r>
          </a:p>
        </p:txBody>
      </p:sp>
      <p:sp>
        <p:nvSpPr>
          <p:cNvPr id="21" name="aws-close">
            <a:extLst xmlns:a="http://schemas.openxmlformats.org/drawingml/2006/main">
              <a:ext uri="{FF2B5EF4-FFF2-40B4-BE49-F238E27FC236}">
                <a16:creationId xmlns:a16="http://schemas.microsoft.com/office/drawing/2014/main" id="{0A4B05D6-E7D5-4CA7-B908-C8D082B5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22" name="aws-close-text">
            <a:extLst xmlns:a="http://schemas.openxmlformats.org/drawingml/2006/main">
              <a:ext uri="{FF2B5EF4-FFF2-40B4-BE49-F238E27FC236}">
                <a16:creationId xmlns:a16="http://schemas.microsoft.com/office/drawing/2014/main" id="{F2084A52-FFE7-40FB-A278-75A6E8E7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720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698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Core takeaway: prioritize every request, ground answers in approved knowledge, and route exceptions to humans with context.</a:t>
            </a:r>
          </a:p>
        </p:txBody>
      </p:sp>
    </p:spTree>
    <p:extLst>
      <p:ext uri="{BB962C8B-B14F-4D97-AF65-F5344CB8AC3E}">
        <p14:creationId xmlns:p14="http://schemas.microsoft.com/office/powerpoint/2010/main" val="866818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2026-08-15T14:25:22.4670000Z</dcterms:created>
  <dcterms:modified xsi:type="dcterms:W3CDTF">2026-08-15T14:25:22.4670000Z</dcterms:modified>
</coreProperties>
</file>